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TextBox 5"/>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a:t>
            </a:r>
          </a:p>
        </p:txBody>
      </p:sp>
      <p:sp>
        <p:nvSpPr>
          <p:cNvPr id="7" name="TextBox 6"/>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Generative AI for Agile Project Management (C324)</a:t>
            </a:r>
          </a:p>
        </p:txBody>
      </p:sp>
      <p:sp>
        <p:nvSpPr>
          <p:cNvPr id="8" name="Rectangle 7"/>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Course Code: C324</a:t>
            </a:r>
          </a:p>
          <a:p>
            <a:pPr algn="l">
              <a:spcAft>
                <a:spcPts val="600"/>
              </a:spcAft>
            </a:pPr>
            <a:r>
              <a:rPr sz="1400" b="0">
                <a:solidFill>
                  <a:srgbClr val="5B6372"/>
                </a:solidFill>
                <a:latin typeface="Arial"/>
              </a:rPr>
              <a:t>Conducted by Tertiary Infotech Academy Pte Ltd  ·  UEN 201200696W</a:t>
            </a:r>
          </a:p>
        </p:txBody>
      </p:sp>
      <p:sp>
        <p:nvSpPr>
          <p:cNvPr id="10" name="TextBox 9"/>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v1.0  ·  27 July 2026</a:t>
            </a:r>
          </a:p>
        </p:txBody>
      </p:sp>
      <p:sp>
        <p:nvSpPr>
          <p:cNvPr id="11" name="TextBox 10"/>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CERTIFICATION</a:t>
            </a:r>
          </a:p>
          <a:p>
            <a:pPr algn="l">
              <a:spcAft>
                <a:spcPts val="300"/>
              </a:spcAft>
            </a:pPr>
            <a:r>
              <a:rPr sz="1400" b="0">
                <a:solidFill>
                  <a:srgbClr val="161B26"/>
                </a:solidFill>
                <a:latin typeface="Arial"/>
              </a:rPr>
              <a:t>Industry certified in the subject area of this course.</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Professional short courses for Tertiary Infotech Academy.</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Your name and organisation / role.</a:t>
            </a:r>
          </a:p>
        </p:txBody>
      </p:sp>
      <p:sp>
        <p:nvSpPr>
          <p:cNvPr id="12" name="Rectangle 11"/>
          <p:cNvSpPr/>
          <p:nvPr/>
        </p:nvSpPr>
        <p:spPr>
          <a:xfrm>
            <a:off x="777240" y="3316224"/>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3389376"/>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Your experience with this subject (if any).</a:t>
            </a:r>
          </a:p>
        </p:txBody>
      </p:sp>
      <p:sp>
        <p:nvSpPr>
          <p:cNvPr id="17" name="Rectangle 16"/>
          <p:cNvSpPr/>
          <p:nvPr/>
        </p:nvSpPr>
        <p:spPr>
          <a:xfrm>
            <a:off x="777240" y="4803648"/>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876800"/>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What you want to be able to do after this course.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Learn by doing — try every hands-on lab.</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Download Course Material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Sign in at the LMS-TMS portal</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 this course from your dashboard</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Go to the Courseware tab</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Download the Slides (PPT/PDF), Learner Guide and Lesson Plan</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Keep them open alongside the labs as you work</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
        <p:nvSpPr>
          <p:cNvPr id="39" name="TextBox 38"/>
          <p:cNvSpPr txBox="1"/>
          <p:nvPr/>
        </p:nvSpPr>
        <p:spPr>
          <a:xfrm>
            <a:off x="777240" y="5943600"/>
            <a:ext cx="10607040" cy="365760"/>
          </a:xfrm>
          <a:prstGeom prst="rect">
            <a:avLst/>
          </a:prstGeom>
          <a:noFill/>
        </p:spPr>
        <p:txBody>
          <a:bodyPr wrap="square" anchor="t">
            <a:spAutoFit/>
          </a:bodyPr>
          <a:lstStyle/>
          <a:p>
            <a:pPr algn="ctr">
              <a:spcAft>
                <a:spcPts val="400"/>
              </a:spcAft>
            </a:pPr>
            <a:r>
              <a:rPr sz="1600" b="1">
                <a:solidFill>
                  <a:srgbClr val="1F6FEB"/>
                </a:solidFill>
                <a:latin typeface="Arial"/>
              </a:rPr>
              <a:t>Portal:  https://lms-tms.tertiaryinfotech.com</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Lesson Plan — 2 Days, 8 hours/day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 1</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2</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Day 1 — Stand up the Tempo 2.0 delivery on an AI toolkit — set up ChatGPT, Claude and Gemini for agile work, build a reusable prompt library and a responsible-AI checklist, then draft and refine the user stories, groom and prioritise the product backlog, and plan the first sprint with a release roadmap</a:t>
            </a:r>
          </a:p>
          <a:p>
            <a:pPr>
              <a:spcAft>
                <a:spcPts val="1000"/>
              </a:spcAft>
            </a:pPr>
            <a:r>
              <a:rPr sz="1400" b="0">
                <a:solidFill>
                  <a:srgbClr val="5B6372"/>
                </a:solidFill>
                <a:latin typeface="Arial"/>
              </a:rPr>
              <a:t>–  Topic 1: Getting Started with Generative AI for Agile (Labs 1–3)</a:t>
            </a:r>
          </a:p>
          <a:p>
            <a:pPr>
              <a:spcAft>
                <a:spcPts val="1000"/>
              </a:spcAft>
            </a:pPr>
            <a:r>
              <a:rPr sz="1400" b="0">
                <a:solidFill>
                  <a:srgbClr val="5B6372"/>
                </a:solidFill>
                <a:latin typeface="Arial"/>
              </a:rPr>
              <a:t>–  Topic 2: AI for Backlogs, User Stories and Planning (Labs 4–6)</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Day 2 — Run and close out the Tempo 2.0 sprints with AI — summarise stand-ups and track progress, surface risks, blockers and dependencies, assist documentation, communication and testing, then generate status reports and a dashboard, analyse velocity, and run an AI-assisted retrospective that drives a real continuous-improvement plan</a:t>
            </a:r>
          </a:p>
          <a:p>
            <a:pPr>
              <a:spcAft>
                <a:spcPts val="1000"/>
              </a:spcAft>
            </a:pPr>
            <a:r>
              <a:rPr sz="1400" b="0">
                <a:solidFill>
                  <a:srgbClr val="5B6372"/>
                </a:solidFill>
                <a:latin typeface="Arial"/>
              </a:rPr>
              <a:t>–  Topic 3: AI for Sprints, Standups and Delivery (Labs 7–9)</a:t>
            </a:r>
          </a:p>
          <a:p>
            <a:pPr>
              <a:spcAft>
                <a:spcPts val="1000"/>
              </a:spcAft>
            </a:pPr>
            <a:r>
              <a:rPr sz="1400" b="0">
                <a:solidFill>
                  <a:srgbClr val="5B6372"/>
                </a:solidFill>
                <a:latin typeface="Arial"/>
              </a:rPr>
              <a:t>–  Topic 4: AI for Reporting, Retrospectives and Improvement (Labs 10–12)</a:t>
            </a:r>
          </a:p>
          <a:p>
            <a:pPr>
              <a:spcAft>
                <a:spcPts val="1000"/>
              </a:spcAft>
            </a:pPr>
            <a:r>
              <a:rPr sz="1600" b="0">
                <a:solidFill>
                  <a:srgbClr val="161B26"/>
                </a:solidFill>
                <a:latin typeface="Arial"/>
              </a:rPr>
              <a:t>•  Daily timing</a:t>
            </a:r>
          </a:p>
          <a:p>
            <a:pPr>
              <a:spcAft>
                <a:spcPts val="1000"/>
              </a:spcAft>
            </a:pPr>
            <a:r>
              <a:rPr sz="1400" b="0">
                <a:solidFill>
                  <a:srgbClr val="5B6372"/>
                </a:solidFill>
                <a:latin typeface="Arial"/>
              </a:rPr>
              <a:t>–  9:30am–6:30pm · 1-hour lunch · tea breaks within training time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AI toolkit for Agile</a:t>
            </a:r>
          </a:p>
          <a:p>
            <a:pPr algn="l">
              <a:spcAft>
                <a:spcPts val="300"/>
              </a:spcAft>
            </a:pPr>
            <a:r>
              <a:rPr sz="1300" b="0">
                <a:solidFill>
                  <a:srgbClr val="5B6372"/>
                </a:solidFill>
                <a:latin typeface="Arial"/>
              </a:rPr>
              <a:t>Explain how generative AI assistants (ChatGPT, Claude, Gemini) support Agile and Scrum, and set up an AI toolkit and workspace for agile project management.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Prompting for agile</a:t>
            </a:r>
          </a:p>
          <a:p>
            <a:pPr algn="l">
              <a:spcAft>
                <a:spcPts val="300"/>
              </a:spcAft>
            </a:pPr>
            <a:r>
              <a:rPr sz="1300" b="0">
                <a:solidFill>
                  <a:srgbClr val="5B6372"/>
                </a:solidFill>
                <a:latin typeface="Arial"/>
              </a:rPr>
              <a:t>Write effective, structured prompts for agile tasks and build a reusable prompt library the whole team can use.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Responsible AI</a:t>
            </a:r>
          </a:p>
          <a:p>
            <a:pPr algn="l">
              <a:spcAft>
                <a:spcPts val="300"/>
              </a:spcAft>
            </a:pPr>
            <a:r>
              <a:rPr sz="1300" b="0">
                <a:solidFill>
                  <a:srgbClr val="5B6372"/>
                </a:solidFill>
                <a:latin typeface="Arial"/>
              </a:rPr>
              <a:t>Apply responsible, human-in-the-loop AI practices — reviewing, fact-checking and protecting sensitive data — across agile work.</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User stories &amp; AC</a:t>
            </a:r>
          </a:p>
          <a:p>
            <a:pPr algn="l">
              <a:spcAft>
                <a:spcPts val="300"/>
              </a:spcAft>
            </a:pPr>
            <a:r>
              <a:rPr sz="1300" b="0">
                <a:solidFill>
                  <a:srgbClr val="5B6372"/>
                </a:solidFill>
                <a:latin typeface="Arial"/>
              </a:rPr>
              <a:t>Draft and refine clear, INVEST-quality user stories and acceptance criteria with AI assistance.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Backlog &amp; priorities</a:t>
            </a:r>
          </a:p>
          <a:p>
            <a:pPr algn="l">
              <a:spcAft>
                <a:spcPts val="300"/>
              </a:spcAft>
            </a:pPr>
            <a:r>
              <a:rPr sz="1300" b="0">
                <a:solidFill>
                  <a:srgbClr val="5B6372"/>
                </a:solidFill>
                <a:latin typeface="Arial"/>
              </a:rPr>
              <a:t>Groom and prioritise a product backlog with AI using INVEST, MoSCoW and value-versus-effort thinking.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Sprint plan &amp; roadmap</a:t>
            </a:r>
          </a:p>
          <a:p>
            <a:pPr algn="l">
              <a:spcAft>
                <a:spcPts val="300"/>
              </a:spcAft>
            </a:pPr>
            <a:r>
              <a:rPr sz="1300" b="0">
                <a:solidFill>
                  <a:srgbClr val="5B6372"/>
                </a:solidFill>
                <a:latin typeface="Arial"/>
              </a:rPr>
              <a:t>Plan a sprint, estimate work, and generate a release roadmap and plan with AI support.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Learning Outcomes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Standups &amp; tracking</a:t>
            </a:r>
          </a:p>
          <a:p>
            <a:pPr algn="l">
              <a:spcAft>
                <a:spcPts val="300"/>
              </a:spcAft>
            </a:pPr>
            <a:r>
              <a:rPr sz="1300" b="0">
                <a:solidFill>
                  <a:srgbClr val="5B6372"/>
                </a:solidFill>
                <a:latin typeface="Arial"/>
              </a:rPr>
              <a:t>Summarise stand-ups and track sprint progress with AI while keeping the team's judgement in the loop.</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Risks &amp; blockers</a:t>
            </a:r>
          </a:p>
          <a:p>
            <a:pPr algn="l">
              <a:spcAft>
                <a:spcPts val="300"/>
              </a:spcAft>
            </a:pPr>
            <a:r>
              <a:rPr sz="1300" b="0">
                <a:solidFill>
                  <a:srgbClr val="5B6372"/>
                </a:solidFill>
                <a:latin typeface="Arial"/>
              </a:rPr>
              <a:t>Identify risks, blockers and dependencies with AI and plan mitigations and escalations.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9</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Docs, comms &amp; QA</a:t>
            </a:r>
          </a:p>
          <a:p>
            <a:pPr algn="l">
              <a:spcAft>
                <a:spcPts val="300"/>
              </a:spcAft>
            </a:pPr>
            <a:r>
              <a:rPr sz="1300" b="0">
                <a:solidFill>
                  <a:srgbClr val="5B6372"/>
                </a:solidFill>
                <a:latin typeface="Arial"/>
              </a:rPr>
              <a:t>Assist documentation, communication, quality and testing across the sprint with AI.</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10</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Reports &amp; dashboards</a:t>
            </a:r>
          </a:p>
          <a:p>
            <a:pPr algn="l">
              <a:spcAft>
                <a:spcPts val="300"/>
              </a:spcAft>
            </a:pPr>
            <a:r>
              <a:rPr sz="1300" b="0">
                <a:solidFill>
                  <a:srgbClr val="5B6372"/>
                </a:solidFill>
                <a:latin typeface="Arial"/>
              </a:rPr>
              <a:t>Generate status reports and a delivery dashboard for different stakeholders with AI.</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11</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Velocity &amp; metrics</a:t>
            </a:r>
          </a:p>
          <a:p>
            <a:pPr algn="l">
              <a:spcAft>
                <a:spcPts val="300"/>
              </a:spcAft>
            </a:pPr>
            <a:r>
              <a:rPr sz="1300" b="0">
                <a:solidFill>
                  <a:srgbClr val="5B6372"/>
                </a:solidFill>
                <a:latin typeface="Arial"/>
              </a:rPr>
              <a:t>Analyse velocity and delivery metrics with AI to surface trends and honest insights.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12</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Retro &amp; improvement</a:t>
            </a:r>
          </a:p>
          <a:p>
            <a:pPr algn="l">
              <a:spcAft>
                <a:spcPts val="300"/>
              </a:spcAft>
            </a:pPr>
            <a:r>
              <a:rPr sz="1300" b="0">
                <a:solidFill>
                  <a:srgbClr val="5B6372"/>
                </a:solidFill>
                <a:latin typeface="Arial"/>
              </a:rPr>
              <a:t>Run an AI-assisted retrospective and turn its output into a concrete continuous-improvement plan.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APPROACH</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You'll Learn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Trainer demonstrates the concept</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You build it yourself in the hands-on lab</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Verify with the lab's 'Test it' step</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Discuss and troubleshoot together</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Recap against the learning outcomes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CORE CONCEPTS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Fundamentals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OVERVIEW</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Generative AI for Agile Really 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A drafting and thinking partner — you describe an agile task in words and the assistant returns a usable first draft (a story, a plan, a summary, a report) in seconds, which you then refine.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Across the whole Scrum cycle — the same skill applies to backlog, planning, stand-ups, delivery, reporting and retrospectives; AI helps at every event, not just one.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Prompt, review, own — the workflow is always the same: give a structured prompt, review and correct the draft, and take ownership of the result. The AI never decides.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The same three tools — ChatGPT, Claude and Gemini all work the same way from your point of view; learn the prompting and review skills once and use whichever tool your team has.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BUILDING BLOCKS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AI-Assisted Agile Loop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Set up</a:t>
            </a:r>
          </a:p>
          <a:p>
            <a:pPr algn="l">
              <a:spcAft>
                <a:spcPts val="300"/>
              </a:spcAft>
            </a:pPr>
            <a:r>
              <a:rPr sz="1200" b="0">
                <a:solidFill>
                  <a:srgbClr val="5B6372"/>
                </a:solidFill>
                <a:latin typeface="Arial"/>
              </a:rPr>
              <a:t>Sign in to your assistant, start a focused chat, and paste in the context — the project brief, backlog or notes the task needs.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Prompt</a:t>
            </a:r>
          </a:p>
          <a:p>
            <a:pPr algn="l">
              <a:spcAft>
                <a:spcPts val="300"/>
              </a:spcAft>
            </a:pPr>
            <a:r>
              <a:rPr sz="1200" b="0">
                <a:solidFill>
                  <a:srgbClr val="5B6372"/>
                </a:solidFill>
                <a:latin typeface="Arial"/>
              </a:rPr>
              <a:t>Give the AI a role, the context, the exact task, the output format and any constraints, so it drafts what you actually need.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Review</a:t>
            </a:r>
          </a:p>
          <a:p>
            <a:pPr algn="l">
              <a:spcAft>
                <a:spcPts val="300"/>
              </a:spcAft>
            </a:pPr>
            <a:r>
              <a:rPr sz="1200" b="0">
                <a:solidFill>
                  <a:srgbClr val="5B6372"/>
                </a:solidFill>
                <a:latin typeface="Arial"/>
              </a:rPr>
              <a:t>Check the draft for accuracy, fit, invented facts, fairness and clarity — the human-in-the-loop step that makes the output safe to use.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Refine</a:t>
            </a:r>
          </a:p>
          <a:p>
            <a:pPr algn="l">
              <a:spcAft>
                <a:spcPts val="300"/>
              </a:spcAft>
            </a:pPr>
            <a:r>
              <a:rPr sz="1200" b="0">
                <a:solidFill>
                  <a:srgbClr val="5B6372"/>
                </a:solidFill>
                <a:latin typeface="Arial"/>
              </a:rPr>
              <a:t>Correct, tighten and adapt the draft with follow-up prompts and your own edits until it meets the team's standard.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Apply</a:t>
            </a:r>
          </a:p>
          <a:p>
            <a:pPr algn="l">
              <a:spcAft>
                <a:spcPts val="300"/>
              </a:spcAft>
            </a:pPr>
            <a:r>
              <a:rPr sz="1200" b="0">
                <a:solidFill>
                  <a:srgbClr val="5B6372"/>
                </a:solidFill>
                <a:latin typeface="Arial"/>
              </a:rPr>
              <a:t>Put the reviewed result into the real agile artifact — the backlog, plan, report or retro — and save the prompt for reuse next sprint.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THE AGILE-AI RULE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Generative AI gives an agile team a fast first draft of almost every written and analytical task — the craft is prompting well, reviewing with judgement, and keeping every decision human.</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This course is hands-on: you take one product — Tempo, a habit-tracking app from the fictional studio Cadence Labs — through a full AI-assisted delivery of its 2.0 release, building a connected 'Tempo 2.0 Agile AI Playbook' from setup and prompts, to backlog, planning, sprint execution, reporting and a retrospective, using ChatGPT, Claude and Gemini.</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ROADMAP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You'll Build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An AI toolkit for Agile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ChatGPT, Claude and Gemini set up for agile work</a:t>
            </a:r>
          </a:p>
          <a:p>
            <a:pPr>
              <a:spcAft>
                <a:spcPts val="900"/>
              </a:spcAft>
            </a:pPr>
            <a:r>
              <a:rPr sz="1400" b="0">
                <a:solidFill>
                  <a:srgbClr val="161B26"/>
                </a:solidFill>
                <a:latin typeface="Arial"/>
              </a:rPr>
              <a:t>•  A reusable agile prompt library</a:t>
            </a:r>
          </a:p>
          <a:p>
            <a:pPr>
              <a:spcAft>
                <a:spcPts val="900"/>
              </a:spcAft>
            </a:pPr>
            <a:r>
              <a:rPr sz="1400" b="0">
                <a:solidFill>
                  <a:srgbClr val="161B26"/>
                </a:solidFill>
                <a:latin typeface="Arial"/>
              </a:rPr>
              <a:t>•  A responsible, human-in-the-loop AI checklist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A planned, prioritised backlog</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INVEST-quality user stories and acceptance criteria</a:t>
            </a:r>
          </a:p>
          <a:p>
            <a:pPr>
              <a:spcAft>
                <a:spcPts val="900"/>
              </a:spcAft>
            </a:pPr>
            <a:r>
              <a:rPr sz="1400" b="0">
                <a:solidFill>
                  <a:srgbClr val="161B26"/>
                </a:solidFill>
                <a:latin typeface="Arial"/>
              </a:rPr>
              <a:t>•  A groomed, MoSCoW-prioritised product backlog</a:t>
            </a:r>
          </a:p>
          <a:p>
            <a:pPr>
              <a:spcAft>
                <a:spcPts val="900"/>
              </a:spcAft>
            </a:pPr>
            <a:r>
              <a:rPr sz="1400" b="0">
                <a:solidFill>
                  <a:srgbClr val="161B26"/>
                </a:solidFill>
                <a:latin typeface="Arial"/>
              </a:rPr>
              <a:t>•  A sprint plan, estimates and a release roadmap</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 running, tracked sprint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Stand-up summaries and progress tracking</a:t>
            </a:r>
          </a:p>
          <a:p>
            <a:pPr>
              <a:spcAft>
                <a:spcPts val="900"/>
              </a:spcAft>
            </a:pPr>
            <a:r>
              <a:rPr sz="1400" b="0">
                <a:solidFill>
                  <a:srgbClr val="161B26"/>
                </a:solidFill>
                <a:latin typeface="Arial"/>
              </a:rPr>
              <a:t>•  A risk, blocker and dependency log</a:t>
            </a:r>
          </a:p>
          <a:p>
            <a:pPr>
              <a:spcAft>
                <a:spcPts val="900"/>
              </a:spcAft>
            </a:pPr>
            <a:r>
              <a:rPr sz="1400" b="0">
                <a:solidFill>
                  <a:srgbClr val="161B26"/>
                </a:solidFill>
                <a:latin typeface="Arial"/>
              </a:rPr>
              <a:t>•  AI-assisted docs, comms and test scenarios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LEARNING ARC</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Every Lab Works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The trainer demonstrates the AI technique on the shared Tempo 2.0 example.</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run it yourself in ChatGPT, Claude or Gemini using the supplied Tempo project brief and inputs.</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verify the result against the lab's explicit 'Test it' check.</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review and refine — correct the draft, fix any invented detail, and adapt it — until it meets the team's standard.</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save the reviewed output and the prompt — each becomes the next section of your Tempo 2.0 Agile AI Playbook.</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EA580C"/>
                </a:solidFill>
                <a:latin typeface="Arial"/>
              </a:rPr>
              <a:t>TOPIC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Getting Started with Generative AI for Agile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Introduction to Agile, Scrum and generative AI · Setting up AI tools for agile project management · Effective prompting for agile tasks · Responsible and human-in-the-loop use of AI</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COURSE COVERAGE 25%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Getting Started with Generative AI for Agile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100" b="0">
                <a:solidFill>
                  <a:srgbClr val="161B26"/>
                </a:solidFill>
                <a:latin typeface="Arial"/>
              </a:rPr>
              <a:t>Agile and Scrum in one view — Agile is a way of delivering value in small, inspect-and-adapt increments; Scrum is the most common framework, with roles (Product Owner, Scrum Master, Developers), events (sprint planning, daily stand-up, review, retrospective) and artifacts (product backlog, sprint backlog, increment).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100" b="0">
                <a:solidFill>
                  <a:srgbClr val="161B26"/>
                </a:solidFill>
                <a:latin typeface="Arial"/>
              </a:rPr>
              <a:t>Where generative AI fits — a generative AI assistant is a drafting, summarising and analysis partner across the whole Scrum cycle; it speeds up the writing and thinking work (stories, plans, summaries, reports) so the team spends more time on judgement, collaboration and delivery.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100" b="0">
                <a:solidFill>
                  <a:srgbClr val="161B26"/>
                </a:solidFill>
                <a:latin typeface="Arial"/>
              </a:rPr>
              <a:t>The three assistants — ChatGPT, Claude and Gemini are general-purpose chat assistants that all take a text prompt and return a draft; they differ in interface, context length and integrations, but the prompting and review skills you learn here transfer across all three.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100" b="0">
                <a:solidFill>
                  <a:srgbClr val="161B26"/>
                </a:solidFill>
                <a:latin typeface="Arial"/>
              </a:rPr>
              <a:t>AI is a co-pilot, not the pilot — the AI drafts and suggests; the Product Owner, Scrum Master and team still own every decision, estimate and commitment. Nothing goes into the backlog, plan or report without a human reviewing it.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100" b="0">
                <a:solidFill>
                  <a:srgbClr val="161B26"/>
                </a:solidFill>
                <a:latin typeface="Arial"/>
              </a:rPr>
              <a:t>Setting up your AI workspace — you sign in to an assistant, learn to start a focused chat per task, paste in the relevant context (the project brief, backlog, notes), and keep your AI work organised alongside your agile tooling.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100" b="0">
                <a:solidFill>
                  <a:srgbClr val="161B26"/>
                </a:solidFill>
                <a:latin typeface="Arial"/>
              </a:rPr>
              <a:t>Prompting is the core skill — a good agile prompt gives the AI a role, the context, the exact task, the format you want back and any constraints; a vague ask gives a vague draft, a structured ask gives a usable one.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COURSE COVERAGE 25%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Getting Started with Generative AI for Agile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200" b="0">
                <a:solidFill>
                  <a:srgbClr val="161B26"/>
                </a:solidFill>
                <a:latin typeface="Arial"/>
              </a:rPr>
              <a:t>A reusable prompt library — the same agile tasks recur every sprint (write stories, groom the backlog, summarise the stand-up, draft the report), so you save your best prompts as reusable templates the whole team can run.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200" b="0">
                <a:solidFill>
                  <a:srgbClr val="161B26"/>
                </a:solidFill>
                <a:latin typeface="Arial"/>
              </a:rPr>
              <a:t>Human-in-the-loop review — every AI output is a first draft to be checked: is it accurate, does it fit our context, is anything invented (a 'hallucination'), is it fair and clear? You review, correct and own the result.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9</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200" b="0">
                <a:solidFill>
                  <a:srgbClr val="161B26"/>
                </a:solidFill>
                <a:latin typeface="Arial"/>
              </a:rPr>
              <a:t>Responsible and safe use — you avoid pasting confidential customer data, credentials or personal information into a public assistant, you check the facts and figures the AI states, and you are transparent with the team about what was AI-assisted.</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Hands-On Labs — Getting Started with Generative AI for Agile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1</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Set Up Your AI Toolkit for Agile Project Management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2</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Write Effective Prompts and Build an Agile Prompt Library</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3</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Apply Responsible, Human-in-the-Loop AI Practices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Set Up Your AI Toolkit for Agile Project Management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300" b="0">
                <a:solidFill>
                  <a:srgbClr val="161B26"/>
                </a:solidFill>
                <a:latin typeface="Arial"/>
              </a:rPr>
              <a:t>This lab gets you comfortable with the tools before any real planning begins. You open ChatGPT, Claude and Gemini in your browser, sign in to each, and read the supplied Tempo 2.0 project brief so you know the product you will be working on. You give all three assistants the same simple agile task, compare how they respond, and see that they work the same way from your point of view — a prompt in, a draft out. You then establish the two habits that run through the whole course: keeping an organised project folder for your playbook, and treating every AI answer as a first draft you review rather than a fact you accept. BUILDING BLOCK — what you create in this lab becomes a section of your Tempo 2.0 Agile AI Playbook, the connected project you assemble across all 12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300" b="1">
                <a:solidFill>
                  <a:srgbClr val="161B26"/>
                </a:solidFill>
                <a:latin typeface="Arial"/>
              </a:rPr>
              <a:t>A working AI toolkit — ChatGPT, Claude and Gemini signed in and tested — plus a Tempo-2.0-Playbook project folder, a short written note on how the three assistants differed on the same task, and a clear grasp of the prompt-review-own workflow.</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ChatGPT (chat.openai.com), Claude (claude.ai), Gemini (gemini.google.com), the Tempo 2.0 project brief, a project folder, the prompt-review-own workflow</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Set Up Your AI Toolkit for Agile Project Management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2377440"/>
          </a:xfrm>
          <a:prstGeom prst="rect">
            <a:avLst/>
          </a:prstGeom>
          <a:noFill/>
        </p:spPr>
        <p:txBody>
          <a:bodyPr wrap="square" anchor="ctr">
            <a:spAutoFit/>
          </a:bodyPr>
          <a:lstStyle/>
          <a:p>
            <a:pPr algn="l">
              <a:spcAft>
                <a:spcPts val="400"/>
              </a:spcAft>
            </a:pPr>
            <a:r>
              <a:rPr sz="2500" b="0">
                <a:solidFill>
                  <a:srgbClr val="161B26"/>
                </a:solidFill>
                <a:latin typeface="Arial"/>
              </a:rPr>
              <a:t>Create a folder on your machine called 'Tempo-2.0-Playbook' so every reviewed output and prompt you make across the course stays together. Open the supplied Tempo 2.0 project brief (labs/reference-pack/) and skim the product vision, the team and the sample inputs so you know what you are working on.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Set Up Your AI Toolkit for Agile Project Management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94560"/>
            <a:ext cx="9235440" cy="2377440"/>
          </a:xfrm>
          <a:prstGeom prst="rect">
            <a:avLst/>
          </a:prstGeom>
          <a:noFill/>
        </p:spPr>
        <p:txBody>
          <a:bodyPr wrap="square" anchor="ctr">
            <a:spAutoFit/>
          </a:bodyPr>
          <a:lstStyle/>
          <a:p>
            <a:pPr algn="l">
              <a:spcAft>
                <a:spcPts val="400"/>
              </a:spcAft>
            </a:pPr>
            <a:r>
              <a:rPr sz="2600" b="0">
                <a:solidFill>
                  <a:srgbClr val="161B26"/>
                </a:solidFill>
                <a:latin typeface="Arial"/>
              </a:rPr>
              <a:t>Open all three assistants in separate browser tabs — chat.openai.com (ChatGPT), claude.ai (Claude) and gemini.google.com (Gemini) — and sign in to each. Send each a simple 'hello' to confirm it responds.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Set Up Your AI Toolkit for Agile Project Management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48840"/>
            <a:ext cx="9235440" cy="1371600"/>
          </a:xfrm>
          <a:prstGeom prst="rect">
            <a:avLst/>
          </a:prstGeom>
          <a:noFill/>
        </p:spPr>
        <p:txBody>
          <a:bodyPr wrap="square" anchor="t">
            <a:spAutoFit/>
          </a:bodyPr>
          <a:lstStyle/>
          <a:p>
            <a:pPr algn="l">
              <a:spcAft>
                <a:spcPts val="400"/>
              </a:spcAft>
            </a:pPr>
            <a:r>
              <a:rPr sz="2300" b="0">
                <a:solidFill>
                  <a:srgbClr val="161B26"/>
                </a:solidFill>
                <a:latin typeface="Arial"/>
              </a:rPr>
              <a:t>Give the SAME agile task to each assistant so you can compare them. Paste the prompt below into ChatGPT, then into Claude, then into Gemini.</a:t>
            </a:r>
          </a:p>
        </p:txBody>
      </p:sp>
      <p:sp>
        <p:nvSpPr>
          <p:cNvPr id="11" name="TextBox 10"/>
          <p:cNvSpPr txBox="1"/>
          <p:nvPr/>
        </p:nvSpPr>
        <p:spPr>
          <a:xfrm>
            <a:off x="2331720" y="3493008"/>
            <a:ext cx="9144000" cy="274320"/>
          </a:xfrm>
          <a:prstGeom prst="rect">
            <a:avLst/>
          </a:prstGeom>
          <a:noFill/>
        </p:spPr>
        <p:txBody>
          <a:bodyPr wrap="square" anchor="t">
            <a:spAutoFit/>
          </a:bodyPr>
          <a:lstStyle/>
          <a:p>
            <a:pPr algn="l">
              <a:spcAft>
                <a:spcPts val="400"/>
              </a:spcAft>
            </a:pPr>
            <a:r>
              <a:rPr sz="1200" b="1">
                <a:solidFill>
                  <a:srgbClr val="1F6FEB"/>
                </a:solidFill>
                <a:latin typeface="Arial"/>
              </a:rPr>
              <a:t>PROMPT — paste into ChatGPT, Claude or Gemini</a:t>
            </a:r>
          </a:p>
        </p:txBody>
      </p:sp>
      <p:sp>
        <p:nvSpPr>
          <p:cNvPr id="12" name="Rectangle 11"/>
          <p:cNvSpPr/>
          <p:nvPr/>
        </p:nvSpPr>
        <p:spPr>
          <a:xfrm>
            <a:off x="2331720" y="3767328"/>
            <a:ext cx="9235440" cy="90525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3886200"/>
            <a:ext cx="8686800" cy="667512"/>
          </a:xfrm>
          <a:prstGeom prst="rect">
            <a:avLst/>
          </a:prstGeom>
          <a:noFill/>
        </p:spPr>
        <p:txBody>
          <a:bodyPr wrap="square" anchor="t">
            <a:spAutoFit/>
          </a:bodyPr>
          <a:lstStyle/>
          <a:p>
            <a:pPr algn="l">
              <a:spcAft>
                <a:spcPts val="200"/>
              </a:spcAft>
            </a:pPr>
            <a:r>
              <a:rPr sz="1300" b="0">
                <a:solidFill>
                  <a:srgbClr val="9CDCFE"/>
                </a:solidFill>
                <a:latin typeface="Arial"/>
              </a:rPr>
              <a:t>You are an Agile coach. In plain language, explain to a new Scrum team the purpose of the four main Scrum events — sprint planning, the daily stand-up, the sprint review and the retrospective — in one short sentence each. Keep it under 120 words total.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Set Up Your AI Toolkit for Agile Project Management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94560"/>
            <a:ext cx="9235440" cy="2377440"/>
          </a:xfrm>
          <a:prstGeom prst="rect">
            <a:avLst/>
          </a:prstGeom>
          <a:noFill/>
        </p:spPr>
        <p:txBody>
          <a:bodyPr wrap="square" anchor="ctr">
            <a:spAutoFit/>
          </a:bodyPr>
          <a:lstStyle/>
          <a:p>
            <a:pPr algn="l">
              <a:spcAft>
                <a:spcPts val="400"/>
              </a:spcAft>
            </a:pPr>
            <a:r>
              <a:rPr sz="2600" b="0">
                <a:solidFill>
                  <a:srgbClr val="161B26"/>
                </a:solidFill>
                <a:latin typeface="Arial"/>
              </a:rPr>
              <a:t>Read the three answers side by side. Note in one or two lines where they differ — length, tone, clarity, formatting. This is your first evidence that the tool matters less than the prompt and your review.</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Set Up Your AI Toolkit for Agile Project Management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48840"/>
            <a:ext cx="9235440" cy="1371600"/>
          </a:xfrm>
          <a:prstGeom prst="rect">
            <a:avLst/>
          </a:prstGeom>
          <a:noFill/>
        </p:spPr>
        <p:txBody>
          <a:bodyPr wrap="square" anchor="t">
            <a:spAutoFit/>
          </a:bodyPr>
          <a:lstStyle/>
          <a:p>
            <a:pPr algn="l">
              <a:spcAft>
                <a:spcPts val="400"/>
              </a:spcAft>
            </a:pPr>
            <a:r>
              <a:rPr sz="2300" b="0">
                <a:solidFill>
                  <a:srgbClr val="161B26"/>
                </a:solidFill>
                <a:latin typeface="Arial"/>
              </a:rPr>
              <a:t>Now feel how context changes the answer. Copy the product-vision paragraph from the Tempo 2.0 brief and paste it into any one assistant with the prompt below.</a:t>
            </a:r>
          </a:p>
        </p:txBody>
      </p:sp>
      <p:sp>
        <p:nvSpPr>
          <p:cNvPr id="11" name="TextBox 10"/>
          <p:cNvSpPr txBox="1"/>
          <p:nvPr/>
        </p:nvSpPr>
        <p:spPr>
          <a:xfrm>
            <a:off x="2331720" y="3493008"/>
            <a:ext cx="9144000" cy="274320"/>
          </a:xfrm>
          <a:prstGeom prst="rect">
            <a:avLst/>
          </a:prstGeom>
          <a:noFill/>
        </p:spPr>
        <p:txBody>
          <a:bodyPr wrap="square" anchor="t">
            <a:spAutoFit/>
          </a:bodyPr>
          <a:lstStyle/>
          <a:p>
            <a:pPr algn="l">
              <a:spcAft>
                <a:spcPts val="400"/>
              </a:spcAft>
            </a:pPr>
            <a:r>
              <a:rPr sz="1200" b="1">
                <a:solidFill>
                  <a:srgbClr val="1F6FEB"/>
                </a:solidFill>
                <a:latin typeface="Arial"/>
              </a:rPr>
              <a:t>PROMPT — paste into ChatGPT, Claude or Gemini</a:t>
            </a:r>
          </a:p>
        </p:txBody>
      </p:sp>
      <p:sp>
        <p:nvSpPr>
          <p:cNvPr id="12" name="Rectangle 11"/>
          <p:cNvSpPr/>
          <p:nvPr/>
        </p:nvSpPr>
        <p:spPr>
          <a:xfrm>
            <a:off x="2331720" y="3767328"/>
            <a:ext cx="9235440" cy="11033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3886200"/>
            <a:ext cx="8686800" cy="865632"/>
          </a:xfrm>
          <a:prstGeom prst="rect">
            <a:avLst/>
          </a:prstGeom>
          <a:noFill/>
        </p:spPr>
        <p:txBody>
          <a:bodyPr wrap="square" anchor="t">
            <a:spAutoFit/>
          </a:bodyPr>
          <a:lstStyle/>
          <a:p>
            <a:pPr algn="l">
              <a:spcAft>
                <a:spcPts val="200"/>
              </a:spcAft>
            </a:pPr>
            <a:r>
              <a:rPr sz="1300" b="0">
                <a:solidFill>
                  <a:srgbClr val="9CDCFE"/>
                </a:solidFill>
                <a:latin typeface="Arial"/>
              </a:rPr>
              <a:t>Here is the product vision for our app, Tempo:</a:t>
            </a:r>
          </a:p>
          <a:p>
            <a:pPr algn="l">
              <a:spcAft>
                <a:spcPts val="200"/>
              </a:spcAft>
            </a:pPr>
            <a:r>
              <a:rPr sz="1300" b="0">
                <a:solidFill>
                  <a:srgbClr val="9CDCFE"/>
                </a:solidFill>
                <a:latin typeface="Arial"/>
              </a:rPr>
              <a:t>&lt;PASTE THE TEMPO 2.0 PRODUCT VISION HERE&gt;</a:t>
            </a:r>
          </a:p>
          <a:p>
            <a:pPr algn="l">
              <a:spcAft>
                <a:spcPts val="200"/>
              </a:spcAft>
            </a:pPr>
            <a:r>
              <a:rPr sz="1300" b="0">
                <a:solidFill>
                  <a:srgbClr val="9CDCFE"/>
                </a:solidFill>
                <a:latin typeface="Arial"/>
              </a:rPr>
              <a:t>In three bullet points, summarise what this product is for and who it serves, using only the information above. Do not invent features that are not stated.</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Set Up Your AI Toolkit for Agile Project Management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2377440"/>
          </a:xfrm>
          <a:prstGeom prst="rect">
            <a:avLst/>
          </a:prstGeom>
          <a:noFill/>
        </p:spPr>
        <p:txBody>
          <a:bodyPr wrap="square" anchor="ctr">
            <a:spAutoFit/>
          </a:bodyPr>
          <a:lstStyle/>
          <a:p>
            <a:pPr algn="l">
              <a:spcAft>
                <a:spcPts val="400"/>
              </a:spcAft>
            </a:pPr>
            <a:r>
              <a:rPr sz="2600" b="0">
                <a:solidFill>
                  <a:srgbClr val="161B26"/>
                </a:solidFill>
                <a:latin typeface="Arial"/>
              </a:rPr>
              <a:t>Deliberately test the review habit: check the assistant's summary against the brief. Did it stick to what the brief actually says, or did it add something that is not there? Note anything invented — this is exactly the human-in-the-loop check you will do on every output.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Set Up Your AI Toolkit for Agile Project Management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2377440"/>
          </a:xfrm>
          <a:prstGeom prst="rect">
            <a:avLst/>
          </a:prstGeom>
          <a:noFill/>
        </p:spPr>
        <p:txBody>
          <a:bodyPr wrap="square" anchor="ctr">
            <a:spAutoFit/>
          </a:bodyPr>
          <a:lstStyle/>
          <a:p>
            <a:pPr algn="l">
              <a:spcAft>
                <a:spcPts val="400"/>
              </a:spcAft>
            </a:pPr>
            <a:r>
              <a:rPr sz="2600" b="0">
                <a:solidFill>
                  <a:srgbClr val="161B26"/>
                </a:solidFill>
                <a:latin typeface="Arial"/>
              </a:rPr>
              <a:t>Write a short 'how I'll work' note for yourself and save it in your Tempo-2.0-Playbook folder: which assistant(s) you will use, and the three-step rule you will follow every time — prompt, review, own. This note opens your playbook.</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Set Up Your AI Toolkit for Agile Project Management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ChatGPT, Claude and Gemini signed in and responding, a Tempo-2.0-Playbook folder created, a written note comparing how the three tools answered the same agile task, and you have practised the prompt-review-own workflow — including catching whether a summary stayed true to the brief.</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Write Effective Prompts and Build an Agile Prompt Library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300" b="0">
                <a:solidFill>
                  <a:srgbClr val="161B26"/>
                </a:solidFill>
                <a:latin typeface="Arial"/>
              </a:rPr>
              <a:t>A good AI draft starts with a good prompt, not a lucky one. In this lab you learn a simple, reliable structure for agile prompts — give the AI a role, the context, the exact task, the output format you want, and any constraints — and you see how each part changes the result. You take a deliberately weak, vague prompt and improve it one part at a time until it produces a genuinely usable draft. Then, because the same agile tasks recur every sprint, you save your best prompts as a reusable prompt library with clearly marked slots, so you (and your team) never start from a blank box again. BUILDING BLOCK — what you create in this lab becomes a section of your Tempo 2.0 Agile AI Playbook, the connected project you assemble across all 12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300" b="1">
                <a:solidFill>
                  <a:srgbClr val="161B26"/>
                </a:solidFill>
                <a:latin typeface="Arial"/>
              </a:rPr>
              <a:t>A reusable agile prompt library saved in your project folder — structured, slot-based prompt templates for the recurring agile tasks (user stories, backlog grooming, stand-up summary, status report, retrospective) — plus a before/after example proving a structured prompt beats a vague one.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Any assistant (ChatGPT, Claude or Gemini), the role-context-task-format-constraints prompt structure, single-change prompt edits, a saved slot-based prompt library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Write Effective Prompts and Build an Agile Prompt Library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2377440"/>
          </a:xfrm>
          <a:prstGeom prst="rect">
            <a:avLst/>
          </a:prstGeom>
          <a:noFill/>
        </p:spPr>
        <p:txBody>
          <a:bodyPr wrap="square" anchor="ctr">
            <a:spAutoFit/>
          </a:bodyPr>
          <a:lstStyle/>
          <a:p>
            <a:pPr algn="l">
              <a:spcAft>
                <a:spcPts val="400"/>
              </a:spcAft>
            </a:pPr>
            <a:r>
              <a:rPr sz="2600" b="0">
                <a:solidFill>
                  <a:srgbClr val="161B26"/>
                </a:solidFill>
                <a:latin typeface="Arial"/>
              </a:rPr>
              <a:t>Start with a deliberately weak prompt so you can feel the difference. In any assistant, send: 'Write some user stories for a habit app.' Read the vague, generic result and keep it to compare against.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Write Effective Prompts and Build an Agile Prompt Library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48840"/>
            <a:ext cx="9235440" cy="1371600"/>
          </a:xfrm>
          <a:prstGeom prst="rect">
            <a:avLst/>
          </a:prstGeom>
          <a:noFill/>
        </p:spPr>
        <p:txBody>
          <a:bodyPr wrap="square" anchor="t">
            <a:spAutoFit/>
          </a:bodyPr>
          <a:lstStyle/>
          <a:p>
            <a:pPr algn="l">
              <a:spcAft>
                <a:spcPts val="400"/>
              </a:spcAft>
            </a:pPr>
            <a:r>
              <a:rPr sz="2300" b="0">
                <a:solidFill>
                  <a:srgbClr val="161B26"/>
                </a:solidFill>
                <a:latin typeface="Arial"/>
              </a:rPr>
              <a:t>Now rebuild the same request with structure. Send the prompt below and compare the result with the weak one — notice how much more usable it is.</a:t>
            </a:r>
          </a:p>
        </p:txBody>
      </p:sp>
      <p:sp>
        <p:nvSpPr>
          <p:cNvPr id="11" name="TextBox 10"/>
          <p:cNvSpPr txBox="1"/>
          <p:nvPr/>
        </p:nvSpPr>
        <p:spPr>
          <a:xfrm>
            <a:off x="2331720" y="3493008"/>
            <a:ext cx="9144000" cy="274320"/>
          </a:xfrm>
          <a:prstGeom prst="rect">
            <a:avLst/>
          </a:prstGeom>
          <a:noFill/>
        </p:spPr>
        <p:txBody>
          <a:bodyPr wrap="square" anchor="t">
            <a:spAutoFit/>
          </a:bodyPr>
          <a:lstStyle/>
          <a:p>
            <a:pPr algn="l">
              <a:spcAft>
                <a:spcPts val="400"/>
              </a:spcAft>
            </a:pPr>
            <a:r>
              <a:rPr sz="1200" b="1">
                <a:solidFill>
                  <a:srgbClr val="1F6FEB"/>
                </a:solidFill>
                <a:latin typeface="Arial"/>
              </a:rPr>
              <a:t>PROMPT — paste into ChatGPT, Claude or Gemini</a:t>
            </a:r>
          </a:p>
        </p:txBody>
      </p:sp>
      <p:sp>
        <p:nvSpPr>
          <p:cNvPr id="12" name="Rectangle 11"/>
          <p:cNvSpPr/>
          <p:nvPr/>
        </p:nvSpPr>
        <p:spPr>
          <a:xfrm>
            <a:off x="2331720" y="3767328"/>
            <a:ext cx="9235440" cy="130149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3886200"/>
            <a:ext cx="8686800" cy="1063752"/>
          </a:xfrm>
          <a:prstGeom prst="rect">
            <a:avLst/>
          </a:prstGeom>
          <a:noFill/>
        </p:spPr>
        <p:txBody>
          <a:bodyPr wrap="square" anchor="t">
            <a:spAutoFit/>
          </a:bodyPr>
          <a:lstStyle/>
          <a:p>
            <a:pPr algn="l">
              <a:spcAft>
                <a:spcPts val="200"/>
              </a:spcAft>
            </a:pPr>
            <a:r>
              <a:rPr sz="1300" b="0">
                <a:solidFill>
                  <a:srgbClr val="9CDCFE"/>
                </a:solidFill>
                <a:latin typeface="Arial"/>
              </a:rPr>
              <a:t>You are an experienced Agile Product Owner. Context: we are building Tempo 2.0, a habit-tracking app; a key new feature is shared team habits, where a group tracks a habit together. Task: write three user stories for this feature. Format: use the form 'As a &lt;role&gt;, I want &lt;goal&gt;, so that &lt;benefit&gt;', one per line. Constraints: keep each to one sentence, make them independent, and focus on the user's value, not the technical solution.</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Write Effective Prompts and Build an Agile Prompt Library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94560"/>
            <a:ext cx="9235440" cy="2377440"/>
          </a:xfrm>
          <a:prstGeom prst="rect">
            <a:avLst/>
          </a:prstGeom>
          <a:noFill/>
        </p:spPr>
        <p:txBody>
          <a:bodyPr wrap="square" anchor="ctr">
            <a:spAutoFit/>
          </a:bodyPr>
          <a:lstStyle/>
          <a:p>
            <a:pPr algn="l">
              <a:spcAft>
                <a:spcPts val="400"/>
              </a:spcAft>
            </a:pPr>
            <a:r>
              <a:rPr sz="2600" b="0">
                <a:solidFill>
                  <a:srgbClr val="161B26"/>
                </a:solidFill>
                <a:latin typeface="Arial"/>
              </a:rPr>
              <a:t>Change exactly one part and regenerate, so you can attribute the change. First change the ROLE (for example to 'a strict Agile coach who insists on INVEST'); read how the emphasis shifts.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Write Effective Prompts and Build an Agile Prompt Library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48840"/>
            <a:ext cx="9235440" cy="1371600"/>
          </a:xfrm>
          <a:prstGeom prst="rect">
            <a:avLst/>
          </a:prstGeom>
          <a:noFill/>
        </p:spPr>
        <p:txBody>
          <a:bodyPr wrap="square" anchor="t">
            <a:spAutoFit/>
          </a:bodyPr>
          <a:lstStyle/>
          <a:p>
            <a:pPr algn="l">
              <a:spcAft>
                <a:spcPts val="400"/>
              </a:spcAft>
            </a:pPr>
            <a:r>
              <a:rPr sz="2300" b="0">
                <a:solidFill>
                  <a:srgbClr val="161B26"/>
                </a:solidFill>
                <a:latin typeface="Arial"/>
              </a:rPr>
              <a:t>Now change only the FORMAT — ask for the same three stories as a markdown table with columns Role, Goal, Benefit, Priority. Notice format is independent of content.</a:t>
            </a:r>
          </a:p>
        </p:txBody>
      </p:sp>
      <p:sp>
        <p:nvSpPr>
          <p:cNvPr id="11" name="TextBox 10"/>
          <p:cNvSpPr txBox="1"/>
          <p:nvPr/>
        </p:nvSpPr>
        <p:spPr>
          <a:xfrm>
            <a:off x="2331720" y="3493008"/>
            <a:ext cx="9144000" cy="274320"/>
          </a:xfrm>
          <a:prstGeom prst="rect">
            <a:avLst/>
          </a:prstGeom>
          <a:noFill/>
        </p:spPr>
        <p:txBody>
          <a:bodyPr wrap="square" anchor="t">
            <a:spAutoFit/>
          </a:bodyPr>
          <a:lstStyle/>
          <a:p>
            <a:pPr algn="l">
              <a:spcAft>
                <a:spcPts val="400"/>
              </a:spcAft>
            </a:pPr>
            <a:r>
              <a:rPr sz="1200" b="1">
                <a:solidFill>
                  <a:srgbClr val="1F6FEB"/>
                </a:solidFill>
                <a:latin typeface="Arial"/>
              </a:rPr>
              <a:t>PROMPT — paste into ChatGPT, Claude or Gemini</a:t>
            </a:r>
          </a:p>
        </p:txBody>
      </p:sp>
      <p:sp>
        <p:nvSpPr>
          <p:cNvPr id="12" name="Rectangle 11"/>
          <p:cNvSpPr/>
          <p:nvPr/>
        </p:nvSpPr>
        <p:spPr>
          <a:xfrm>
            <a:off x="2331720" y="3767328"/>
            <a:ext cx="9235440" cy="70713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3886200"/>
            <a:ext cx="8686800" cy="469392"/>
          </a:xfrm>
          <a:prstGeom prst="rect">
            <a:avLst/>
          </a:prstGeom>
          <a:noFill/>
        </p:spPr>
        <p:txBody>
          <a:bodyPr wrap="square" anchor="t">
            <a:spAutoFit/>
          </a:bodyPr>
          <a:lstStyle/>
          <a:p>
            <a:pPr algn="l">
              <a:spcAft>
                <a:spcPts val="200"/>
              </a:spcAft>
            </a:pPr>
            <a:r>
              <a:rPr sz="1300" b="0">
                <a:solidFill>
                  <a:srgbClr val="9CDCFE"/>
                </a:solidFill>
                <a:latin typeface="Arial"/>
              </a:rPr>
              <a:t>Re-present exactly those three user stories as a markdown table with the columns: Role | Goal | Benefit | Priority (High/Medium/Low). Do not change the stories' wording.</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Write Effective Prompts and Build an Agile Prompt Library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94560"/>
            <a:ext cx="9235440" cy="2377440"/>
          </a:xfrm>
          <a:prstGeom prst="rect">
            <a:avLst/>
          </a:prstGeom>
          <a:noFill/>
        </p:spPr>
        <p:txBody>
          <a:bodyPr wrap="square" anchor="ctr">
            <a:spAutoFit/>
          </a:bodyPr>
          <a:lstStyle/>
          <a:p>
            <a:pPr algn="l">
              <a:spcAft>
                <a:spcPts val="400"/>
              </a:spcAft>
            </a:pPr>
            <a:r>
              <a:rPr sz="2600" b="0">
                <a:solidFill>
                  <a:srgbClr val="161B26"/>
                </a:solidFill>
                <a:latin typeface="Arial"/>
              </a:rPr>
              <a:t>Now change only the CONSTRAINTS — add 'each story must be small enough to finish in one sprint, and add one acceptance criterion per story'. See how constraints tighten quality without you rewriting the whole prompt.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Write Effective Prompts and Build an Agile Prompt Library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48840"/>
            <a:ext cx="9235440" cy="1371600"/>
          </a:xfrm>
          <a:prstGeom prst="rect">
            <a:avLst/>
          </a:prstGeom>
          <a:noFill/>
        </p:spPr>
        <p:txBody>
          <a:bodyPr wrap="square" anchor="t">
            <a:spAutoFit/>
          </a:bodyPr>
          <a:lstStyle/>
          <a:p>
            <a:pPr algn="l">
              <a:spcAft>
                <a:spcPts val="400"/>
              </a:spcAft>
            </a:pPr>
            <a:r>
              <a:rPr sz="2300" b="0">
                <a:solidFill>
                  <a:srgbClr val="161B26"/>
                </a:solidFill>
                <a:latin typeface="Arial"/>
              </a:rPr>
              <a:t>Extract the pattern into a reusable template. Ask the assistant to help, then save the result. Paste the prompt below.</a:t>
            </a:r>
          </a:p>
        </p:txBody>
      </p:sp>
      <p:sp>
        <p:nvSpPr>
          <p:cNvPr id="11" name="TextBox 10"/>
          <p:cNvSpPr txBox="1"/>
          <p:nvPr/>
        </p:nvSpPr>
        <p:spPr>
          <a:xfrm>
            <a:off x="2331720" y="3493008"/>
            <a:ext cx="9144000" cy="274320"/>
          </a:xfrm>
          <a:prstGeom prst="rect">
            <a:avLst/>
          </a:prstGeom>
          <a:noFill/>
        </p:spPr>
        <p:txBody>
          <a:bodyPr wrap="square" anchor="t">
            <a:spAutoFit/>
          </a:bodyPr>
          <a:lstStyle/>
          <a:p>
            <a:pPr algn="l">
              <a:spcAft>
                <a:spcPts val="400"/>
              </a:spcAft>
            </a:pPr>
            <a:r>
              <a:rPr sz="1200" b="1">
                <a:solidFill>
                  <a:srgbClr val="1F6FEB"/>
                </a:solidFill>
                <a:latin typeface="Arial"/>
              </a:rPr>
              <a:t>PROMPT — paste into ChatGPT, Claude or Gemini</a:t>
            </a:r>
          </a:p>
        </p:txBody>
      </p:sp>
      <p:sp>
        <p:nvSpPr>
          <p:cNvPr id="12" name="Rectangle 11"/>
          <p:cNvSpPr/>
          <p:nvPr/>
        </p:nvSpPr>
        <p:spPr>
          <a:xfrm>
            <a:off x="2331720" y="3767328"/>
            <a:ext cx="9235440" cy="130149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3886200"/>
            <a:ext cx="8686800" cy="1063752"/>
          </a:xfrm>
          <a:prstGeom prst="rect">
            <a:avLst/>
          </a:prstGeom>
          <a:noFill/>
        </p:spPr>
        <p:txBody>
          <a:bodyPr wrap="square" anchor="t">
            <a:spAutoFit/>
          </a:bodyPr>
          <a:lstStyle/>
          <a:p>
            <a:pPr algn="l">
              <a:spcAft>
                <a:spcPts val="200"/>
              </a:spcAft>
            </a:pPr>
            <a:r>
              <a:rPr sz="1300" b="0">
                <a:solidFill>
                  <a:srgbClr val="9CDCFE"/>
                </a:solidFill>
                <a:latin typeface="Arial"/>
              </a:rPr>
              <a:t>Turn the effective prompt we just refined into a reusable template with clearly marked slots: [ROLE], [CONTEXT], [TASK], [FORMAT], [CONSTRAINTS]. Then create four more templates in the same slot style for these recurring agile tasks: grooming a backlog, summarising a daily stand-up from raw notes, writing a sprint status report for stakeholders, and running a retrospective. Present all five as a clean, copy-ready prompt library.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Write Effective Prompts and Build an Agile Prompt Library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2377440"/>
          </a:xfrm>
          <a:prstGeom prst="rect">
            <a:avLst/>
          </a:prstGeom>
          <a:noFill/>
        </p:spPr>
        <p:txBody>
          <a:bodyPr wrap="square" anchor="ctr">
            <a:spAutoFit/>
          </a:bodyPr>
          <a:lstStyle/>
          <a:p>
            <a:pPr algn="l">
              <a:spcAft>
                <a:spcPts val="400"/>
              </a:spcAft>
            </a:pPr>
            <a:r>
              <a:rPr sz="2500" b="0">
                <a:solidFill>
                  <a:srgbClr val="161B26"/>
                </a:solidFill>
                <a:latin typeface="Arial"/>
              </a:rPr>
              <a:t>Review and save. Read each template critically — would it work on a real task? Fix anything weak, then save the five-template set as 'agile-prompt-library' in your Tempo-2.0-Playbook folder. Keep the weak-vs-structured example next to it as a reminder of why structure matters.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Write Effective Prompts and Build an Agile Prompt Library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a saved agile prompt library of at least five slot-based templates (user stories, backlog grooming, stand-up summary, status report, retrospective) built on the role-context-task-format-constraints structure, and a before/after example that shows a structured prompt clearly beats a vague one.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Apply Responsible, Human-in-the-Loop AI Practices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300" b="0">
                <a:solidFill>
                  <a:srgbClr val="161B26"/>
                </a:solidFill>
                <a:latin typeface="Arial"/>
              </a:rPr>
              <a:t>Using AI in a real delivery brings real responsibilities. In this lab you build and apply the human-in-the-loop discipline that keeps AI use safe. You deliberately prompt an assistant into stating something confidently wrong (a 'hallucination') and practise catching and correcting it. You learn what never to paste into a public assistant — customer data, personal information, credentials, proprietary code — and rewrite a risky prompt to remove it. You check a draft for fairness and clarity, and you decide how your team will be transparent about what was AI-assisted. The output is a short, reusable responsible-AI checklist you keep visible for the rest of the course. BUILDING BLOCK — what you create in this lab becomes a section of your Tempo 2.0 Agile AI Playbook, the connected project you assemble across all 12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300" b="1">
                <a:solidFill>
                  <a:srgbClr val="161B26"/>
                </a:solidFill>
                <a:latin typeface="Arial"/>
              </a:rPr>
              <a:t>A one-page responsible-AI checklist for agile work (fact-check, protect data, be fair and clear, disclose AI use, keep a human owner) plus worked examples — a caught-and-corrected hallucination and a risky prompt rewritten to remove sensitive data.</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Any assistant, fact-checking against the brief, data-safety rewriting, a fairness and clarity review, a transparency and ownership decision</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Apply Responsible, Human-in-the-Loop AI Practices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48840"/>
            <a:ext cx="9235440" cy="1371600"/>
          </a:xfrm>
          <a:prstGeom prst="rect">
            <a:avLst/>
          </a:prstGeom>
          <a:noFill/>
        </p:spPr>
        <p:txBody>
          <a:bodyPr wrap="square" anchor="t">
            <a:spAutoFit/>
          </a:bodyPr>
          <a:lstStyle/>
          <a:p>
            <a:pPr algn="l">
              <a:spcAft>
                <a:spcPts val="400"/>
              </a:spcAft>
            </a:pPr>
            <a:r>
              <a:rPr sz="2300" b="0">
                <a:solidFill>
                  <a:srgbClr val="161B26"/>
                </a:solidFill>
                <a:latin typeface="Arial"/>
              </a:rPr>
              <a:t>See a hallucination for yourself. Ask an assistant a specific, checkable question it is likely to get wrong or invent, for example the prompt below. Read how confident the answer sounds.</a:t>
            </a:r>
          </a:p>
        </p:txBody>
      </p:sp>
      <p:sp>
        <p:nvSpPr>
          <p:cNvPr id="11" name="TextBox 10"/>
          <p:cNvSpPr txBox="1"/>
          <p:nvPr/>
        </p:nvSpPr>
        <p:spPr>
          <a:xfrm>
            <a:off x="2331720" y="3493008"/>
            <a:ext cx="9144000" cy="274320"/>
          </a:xfrm>
          <a:prstGeom prst="rect">
            <a:avLst/>
          </a:prstGeom>
          <a:noFill/>
        </p:spPr>
        <p:txBody>
          <a:bodyPr wrap="square" anchor="t">
            <a:spAutoFit/>
          </a:bodyPr>
          <a:lstStyle/>
          <a:p>
            <a:pPr algn="l">
              <a:spcAft>
                <a:spcPts val="400"/>
              </a:spcAft>
            </a:pPr>
            <a:r>
              <a:rPr sz="1200" b="1">
                <a:solidFill>
                  <a:srgbClr val="1F6FEB"/>
                </a:solidFill>
                <a:latin typeface="Arial"/>
              </a:rPr>
              <a:t>PROMPT — paste into ChatGPT, Claude or Gemini</a:t>
            </a:r>
          </a:p>
        </p:txBody>
      </p:sp>
      <p:sp>
        <p:nvSpPr>
          <p:cNvPr id="12" name="Rectangle 11"/>
          <p:cNvSpPr/>
          <p:nvPr/>
        </p:nvSpPr>
        <p:spPr>
          <a:xfrm>
            <a:off x="2331720" y="3767328"/>
            <a:ext cx="9235440" cy="70713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3886200"/>
            <a:ext cx="8686800" cy="469392"/>
          </a:xfrm>
          <a:prstGeom prst="rect">
            <a:avLst/>
          </a:prstGeom>
          <a:noFill/>
        </p:spPr>
        <p:txBody>
          <a:bodyPr wrap="square" anchor="t">
            <a:spAutoFit/>
          </a:bodyPr>
          <a:lstStyle/>
          <a:p>
            <a:pPr algn="l">
              <a:spcAft>
                <a:spcPts val="200"/>
              </a:spcAft>
            </a:pPr>
            <a:r>
              <a:rPr sz="1300" b="0">
                <a:solidFill>
                  <a:srgbClr val="9CDCFE"/>
                </a:solidFill>
                <a:latin typeface="Arial"/>
              </a:rPr>
              <a:t>According to the official Scrum Guide, exactly how many minutes long must a daily stand-up be, and on which page is that stated? Give the exact page number.</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Apply Responsible, Human-in-the-Loop AI Practices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94560"/>
            <a:ext cx="9235440" cy="2377440"/>
          </a:xfrm>
          <a:prstGeom prst="rect">
            <a:avLst/>
          </a:prstGeom>
          <a:noFill/>
        </p:spPr>
        <p:txBody>
          <a:bodyPr wrap="square" anchor="ctr">
            <a:spAutoFit/>
          </a:bodyPr>
          <a:lstStyle/>
          <a:p>
            <a:pPr algn="l">
              <a:spcAft>
                <a:spcPts val="400"/>
              </a:spcAft>
            </a:pPr>
            <a:r>
              <a:rPr sz="2500" b="0">
                <a:solidFill>
                  <a:srgbClr val="161B26"/>
                </a:solidFill>
                <a:latin typeface="Arial"/>
              </a:rPr>
              <a:t>Fact-check it. The Scrum Guide time-boxes the daily stand-up to 15 minutes but does not mandate an exact length by page number — so any confident 'page number' is invented. Note this as your first checklist rule: verify specific facts, figures and citations before you trust them.</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Apply Responsible, Human-in-the-Loop AI Practices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94560"/>
            <a:ext cx="9235440" cy="2377440"/>
          </a:xfrm>
          <a:prstGeom prst="rect">
            <a:avLst/>
          </a:prstGeom>
          <a:noFill/>
        </p:spPr>
        <p:txBody>
          <a:bodyPr wrap="square" anchor="ctr">
            <a:spAutoFit/>
          </a:bodyPr>
          <a:lstStyle/>
          <a:p>
            <a:pPr algn="l">
              <a:spcAft>
                <a:spcPts val="400"/>
              </a:spcAft>
            </a:pPr>
            <a:r>
              <a:rPr sz="2500" b="0">
                <a:solidFill>
                  <a:srgbClr val="161B26"/>
                </a:solidFill>
                <a:latin typeface="Arial"/>
              </a:rPr>
              <a:t>Practise data safety. Look at this risky prompt a busy Scrum Master might send: 'Here is our customer list with emails and phone numbers &lt;pasted&gt;, and our AWS admin password is &lt;pasted&gt; — write release notes.' Identify everything in it that must never go into a public assistant.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Apply Responsible, Human-in-the-Loop AI Practices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48840"/>
            <a:ext cx="9235440" cy="1371600"/>
          </a:xfrm>
          <a:prstGeom prst="rect">
            <a:avLst/>
          </a:prstGeom>
          <a:noFill/>
        </p:spPr>
        <p:txBody>
          <a:bodyPr wrap="square" anchor="t">
            <a:spAutoFit/>
          </a:bodyPr>
          <a:lstStyle/>
          <a:p>
            <a:pPr algn="l">
              <a:spcAft>
                <a:spcPts val="400"/>
              </a:spcAft>
            </a:pPr>
            <a:r>
              <a:rPr sz="2300" b="0">
                <a:solidFill>
                  <a:srgbClr val="161B26"/>
                </a:solidFill>
                <a:latin typeface="Arial"/>
              </a:rPr>
              <a:t>Rewrite it safely. Redraft the same request so it gets the job done with no sensitive data, using the prompt below as your safe version.</a:t>
            </a:r>
          </a:p>
        </p:txBody>
      </p:sp>
      <p:sp>
        <p:nvSpPr>
          <p:cNvPr id="11" name="TextBox 10"/>
          <p:cNvSpPr txBox="1"/>
          <p:nvPr/>
        </p:nvSpPr>
        <p:spPr>
          <a:xfrm>
            <a:off x="2331720" y="3493008"/>
            <a:ext cx="9144000" cy="274320"/>
          </a:xfrm>
          <a:prstGeom prst="rect">
            <a:avLst/>
          </a:prstGeom>
          <a:noFill/>
        </p:spPr>
        <p:txBody>
          <a:bodyPr wrap="square" anchor="t">
            <a:spAutoFit/>
          </a:bodyPr>
          <a:lstStyle/>
          <a:p>
            <a:pPr algn="l">
              <a:spcAft>
                <a:spcPts val="400"/>
              </a:spcAft>
            </a:pPr>
            <a:r>
              <a:rPr sz="1200" b="1">
                <a:solidFill>
                  <a:srgbClr val="1F6FEB"/>
                </a:solidFill>
                <a:latin typeface="Arial"/>
              </a:rPr>
              <a:t>PROMPT — paste into ChatGPT, Claude or Gemini</a:t>
            </a:r>
          </a:p>
        </p:txBody>
      </p:sp>
      <p:sp>
        <p:nvSpPr>
          <p:cNvPr id="12" name="Rectangle 11"/>
          <p:cNvSpPr/>
          <p:nvPr/>
        </p:nvSpPr>
        <p:spPr>
          <a:xfrm>
            <a:off x="2331720" y="3767328"/>
            <a:ext cx="9235440" cy="11033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3886200"/>
            <a:ext cx="8686800" cy="865632"/>
          </a:xfrm>
          <a:prstGeom prst="rect">
            <a:avLst/>
          </a:prstGeom>
          <a:noFill/>
        </p:spPr>
        <p:txBody>
          <a:bodyPr wrap="square" anchor="t">
            <a:spAutoFit/>
          </a:bodyPr>
          <a:lstStyle/>
          <a:p>
            <a:pPr algn="l">
              <a:spcAft>
                <a:spcPts val="200"/>
              </a:spcAft>
            </a:pPr>
            <a:r>
              <a:rPr sz="1300" b="0">
                <a:solidFill>
                  <a:srgbClr val="9CDCFE"/>
                </a:solidFill>
                <a:latin typeface="Arial"/>
              </a:rPr>
              <a:t>You are a release manager. Write concise release notes for a mobile app update that adds shared team habits, a smarter reminder engine and an insights dashboard, and fixes several reminder-reliability bugs. Use only this description — do not ask for or include any customer data, personal information or credentials. Format: a short 'New', 'Improved' and 'Fixed' list.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Apply Responsible, Human-in-the-Loop AI Practices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48840"/>
            <a:ext cx="9235440" cy="1371600"/>
          </a:xfrm>
          <a:prstGeom prst="rect">
            <a:avLst/>
          </a:prstGeom>
          <a:noFill/>
        </p:spPr>
        <p:txBody>
          <a:bodyPr wrap="square" anchor="t">
            <a:spAutoFit/>
          </a:bodyPr>
          <a:lstStyle/>
          <a:p>
            <a:pPr algn="l">
              <a:spcAft>
                <a:spcPts val="400"/>
              </a:spcAft>
            </a:pPr>
            <a:r>
              <a:rPr sz="2200" b="0">
                <a:solidFill>
                  <a:srgbClr val="161B26"/>
                </a:solidFill>
                <a:latin typeface="Arial"/>
              </a:rPr>
              <a:t>Check for fairness and clarity. Take any draft the AI has written for you so far and ask it to review itself with the prompt below; then read its answer critically — you, not the AI, are the judge.</a:t>
            </a:r>
          </a:p>
        </p:txBody>
      </p:sp>
      <p:sp>
        <p:nvSpPr>
          <p:cNvPr id="11" name="TextBox 10"/>
          <p:cNvSpPr txBox="1"/>
          <p:nvPr/>
        </p:nvSpPr>
        <p:spPr>
          <a:xfrm>
            <a:off x="2331720" y="3493008"/>
            <a:ext cx="9144000" cy="274320"/>
          </a:xfrm>
          <a:prstGeom prst="rect">
            <a:avLst/>
          </a:prstGeom>
          <a:noFill/>
        </p:spPr>
        <p:txBody>
          <a:bodyPr wrap="square" anchor="t">
            <a:spAutoFit/>
          </a:bodyPr>
          <a:lstStyle/>
          <a:p>
            <a:pPr algn="l">
              <a:spcAft>
                <a:spcPts val="400"/>
              </a:spcAft>
            </a:pPr>
            <a:r>
              <a:rPr sz="1200" b="1">
                <a:solidFill>
                  <a:srgbClr val="1F6FEB"/>
                </a:solidFill>
                <a:latin typeface="Arial"/>
              </a:rPr>
              <a:t>PROMPT — paste into ChatGPT, Claude or Gemini</a:t>
            </a:r>
          </a:p>
        </p:txBody>
      </p:sp>
      <p:sp>
        <p:nvSpPr>
          <p:cNvPr id="12" name="Rectangle 11"/>
          <p:cNvSpPr/>
          <p:nvPr/>
        </p:nvSpPr>
        <p:spPr>
          <a:xfrm>
            <a:off x="2331720" y="3767328"/>
            <a:ext cx="9235440" cy="90525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3886200"/>
            <a:ext cx="8686800" cy="667512"/>
          </a:xfrm>
          <a:prstGeom prst="rect">
            <a:avLst/>
          </a:prstGeom>
          <a:noFill/>
        </p:spPr>
        <p:txBody>
          <a:bodyPr wrap="square" anchor="t">
            <a:spAutoFit/>
          </a:bodyPr>
          <a:lstStyle/>
          <a:p>
            <a:pPr algn="l">
              <a:spcAft>
                <a:spcPts val="200"/>
              </a:spcAft>
            </a:pPr>
            <a:r>
              <a:rPr sz="1300" b="0">
                <a:solidFill>
                  <a:srgbClr val="9CDCFE"/>
                </a:solidFill>
                <a:latin typeface="Arial"/>
              </a:rPr>
              <a:t>Review the text above for clarity and fairness: is anything ambiguous, biased, exclusionary or likely to be misread by a non-technical stakeholder? List specific issues and suggest plain, neutral rewrites. Do not change the meaning.</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Apply Responsible, Human-in-the-Loop AI Practices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2377440"/>
          </a:xfrm>
          <a:prstGeom prst="rect">
            <a:avLst/>
          </a:prstGeom>
          <a:noFill/>
        </p:spPr>
        <p:txBody>
          <a:bodyPr wrap="square" anchor="ctr">
            <a:spAutoFit/>
          </a:bodyPr>
          <a:lstStyle/>
          <a:p>
            <a:pPr algn="l">
              <a:spcAft>
                <a:spcPts val="400"/>
              </a:spcAft>
            </a:pPr>
            <a:r>
              <a:rPr sz="2600" b="0">
                <a:solidFill>
                  <a:srgbClr val="161B26"/>
                </a:solidFill>
                <a:latin typeface="Arial"/>
              </a:rPr>
              <a:t>Decide on transparency and ownership. Write one line on how your team will note when something was AI-assisted (for example a small 'AI-assisted, reviewed by &lt;name&gt;' tag on drafts), and confirm the rule that a named human owns and approves every output before it is used.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Apply Responsible, Human-in-the-Loop AI Practices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2377440"/>
          </a:xfrm>
          <a:prstGeom prst="rect">
            <a:avLst/>
          </a:prstGeom>
          <a:noFill/>
        </p:spPr>
        <p:txBody>
          <a:bodyPr wrap="square" anchor="ctr">
            <a:spAutoFit/>
          </a:bodyPr>
          <a:lstStyle/>
          <a:p>
            <a:pPr algn="l">
              <a:spcAft>
                <a:spcPts val="400"/>
              </a:spcAft>
            </a:pPr>
            <a:r>
              <a:rPr sz="2400" b="0">
                <a:solidFill>
                  <a:srgbClr val="161B26"/>
                </a:solidFill>
                <a:latin typeface="Arial"/>
              </a:rPr>
              <a:t>Assemble your responsible-AI checklist. Combine what you practised into a short, reusable checklist — fact-check specifics; never paste sensitive data; review for fairness and clarity; disclose AI assistance; a human owns and approves — and save it as 'responsible-ai-checklist' in your Tempo-2.0-Playbook. Keep it open beside you for every remaining lab.</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Apply Responsible, Human-in-the-Loop AI Practices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a saved one-page responsible-AI checklist, and you have applied it in practice: you caught and corrected an invented 'fact', you identified and removed sensitive data by rewriting a risky prompt safely, and you reviewed a draft for fairness, clarity, disclosure and human ownership.</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Recap — Getting Started with Generative AI for Agile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 can now: Sign in to ChatGPT, Claude and Gemini, give the same agile task to each, compare their drafts, and set up your Tempo 2.0 workspace and the human-in-the-loop review habit that every later lab depends on.</a:t>
            </a:r>
          </a:p>
        </p:txBody>
      </p:sp>
      <p:sp>
        <p:nvSpPr>
          <p:cNvPr id="12" name="Rectangle 11"/>
          <p:cNvSpPr/>
          <p:nvPr/>
        </p:nvSpPr>
        <p:spPr>
          <a:xfrm>
            <a:off x="777240" y="3316224"/>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3389376"/>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 can now: Learn the role-context-task-format-constraints structure for agile prompts, refine a weak prompt into a strong one, and save a reusable agile prompt library you will use for the rest of the course.</a:t>
            </a:r>
          </a:p>
        </p:txBody>
      </p:sp>
      <p:sp>
        <p:nvSpPr>
          <p:cNvPr id="17" name="Rectangle 16"/>
          <p:cNvSpPr/>
          <p:nvPr/>
        </p:nvSpPr>
        <p:spPr>
          <a:xfrm>
            <a:off x="777240" y="4803648"/>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876800"/>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 can now: Build a responsible-AI checklist for agile work and apply it — catching an invented 'fact', rewriting a prompt to protect sensitive data, and confirming a draft is fair, clear and owned by a human.</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DC2626"/>
                </a:solidFill>
                <a:latin typeface="Arial"/>
              </a:rPr>
              <a:t>TOPIC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AI for Backlogs, User Stories and Planning</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Drafting and refining user stories and acceptance criteria · Grooming and prioritising the backlog with AI · Sprint planning and estimation support · Generating roadmaps and release plans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COURSE COVERAGE 25%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AI for Backlogs, User Stories and Planning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User stories with AI — the AI turns a rough feature idea into a well-formed user story in the 'As a &lt;role&gt;, I want &lt;goal&gt;, so that &lt;benefit&gt;' form, and you refine it so it reflects the real user and real value.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INVEST-quality stories — good stories are Independent, Negotiable, Valuable, Estimable, Small and Testable; you prompt the AI to draft against INVEST and to flag stories that are too big or vague to estimate.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Acceptance criteria — the AI drafts clear, testable acceptance criteria (often in Given/When/Then form) that define 'done' for a story, which you then check for gaps, edge cases and testability.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Grooming the backlog — the AI helps refine, split, merge and de-duplicate backlog items, clarify wording and add missing detail, turning a messy raw list into a groomed, ready backlog.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Prioritising with AI — the AI applies frameworks such as MoSCoW (Must / Should / Could / Won't) and value-versus-effort to suggest a priority order and explain its reasoning; the Product Owner makes the final call.</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Sprint planning support — given the team's capacity and the top of the backlog, the AI proposes a realistic sprint goal and a candidate sprint backlog, and helps break stories into tasks.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COURSE COVERAGE 25%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AI for Backlogs, User Stories and Planning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Estimation support — the AI suggests relative story-point estimates and surfaces the assumptions and risks behind each, giving the team a sensible starting point for planning-poker discussion rather than a number to accept blindly.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Roadmaps and release plans — the AI drafts a multi-sprint roadmap and a release plan from the prioritised backlog, grouping work into themes and releases and making dependencies and milestones explicit.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9</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Keeping ownership — AI accelerates the drafting, but the team still negotiates scope, commits to the sprint and owns the estimates; the AI's numbers are inputs to the conversation, never the decision.</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Hands-On Labs — AI for Backlogs, User Stories and Planning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4</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Draft and Refine User Stories and Acceptance Criteria</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5</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Groom and Prioritise the Product Backlog with AI</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6</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Plan the Sprint, Estimate, and Build the Release Roadmap</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Draft and Refine User Stories and Acceptance Criteria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300" b="0">
                <a:solidFill>
                  <a:srgbClr val="161B26"/>
                </a:solidFill>
                <a:latin typeface="Arial"/>
              </a:rPr>
              <a:t>Planning starts with well-formed stories. In this lab you take the rough feature ideas from the Tempo 2.0 brief and use an assistant to draft them as proper user stories in the 'As a &lt;role&gt;, I want &lt;goal&gt;, so that &lt;benefit&gt;' form. You prompt the AI to check its own stories against INVEST and to flag any that are too big or vague to estimate, then split those with its help. For your key stories you draft acceptance criteria in Given/When/Then form and review them for gaps, edge cases and testability. Throughout, you apply your responsible-AI checklist — the AI drafts, you decide what is right for the real user. BUILDING BLOCK — what you create in this lab becomes a section of your Tempo 2.0 Agile AI Playbook, the connected project you assemble across all 12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400" b="1">
                <a:solidFill>
                  <a:srgbClr val="161B26"/>
                </a:solidFill>
                <a:latin typeface="Arial"/>
              </a:rPr>
              <a:t>A set of INVEST-checked Tempo 2.0 user stories (with over-large ones split) and, for the key stories, testable Given/When/Then acceptance criteria — all reviewed by you and saved as the stories section of your playbook.</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Any assistant, the user-story template from your prompt library, the INVEST checklist, story splitting, Given/When/Then acceptance criteria</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Draft and Refine User Stories and Acceptance Criteria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2377440"/>
          </a:xfrm>
          <a:prstGeom prst="rect">
            <a:avLst/>
          </a:prstGeom>
          <a:noFill/>
        </p:spPr>
        <p:txBody>
          <a:bodyPr wrap="square" anchor="ctr">
            <a:spAutoFit/>
          </a:bodyPr>
          <a:lstStyle/>
          <a:p>
            <a:pPr algn="l">
              <a:spcAft>
                <a:spcPts val="400"/>
              </a:spcAft>
            </a:pPr>
            <a:r>
              <a:rPr sz="2600" b="0">
                <a:solidFill>
                  <a:srgbClr val="161B26"/>
                </a:solidFill>
                <a:latin typeface="Arial"/>
              </a:rPr>
              <a:t>Open the Tempo 2.0 brief and copy the raw feature ideas for the 2.0 release (shared team habits, the smarter reminder engine, the insights dashboard, and the listed bug fixes). Open your agile prompt library and grab your user-story template.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Draft and Refine User Stories and Acceptance Criteria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48840"/>
            <a:ext cx="9235440" cy="1371600"/>
          </a:xfrm>
          <a:prstGeom prst="rect">
            <a:avLst/>
          </a:prstGeom>
          <a:noFill/>
        </p:spPr>
        <p:txBody>
          <a:bodyPr wrap="square" anchor="t">
            <a:spAutoFit/>
          </a:bodyPr>
          <a:lstStyle/>
          <a:p>
            <a:pPr algn="l">
              <a:spcAft>
                <a:spcPts val="400"/>
              </a:spcAft>
            </a:pPr>
            <a:r>
              <a:rPr sz="2300" b="0">
                <a:solidFill>
                  <a:srgbClr val="161B26"/>
                </a:solidFill>
                <a:latin typeface="Arial"/>
              </a:rPr>
              <a:t>Draft the first batch of stories. Paste the prompt below, filling the context slot with the raw ideas.</a:t>
            </a:r>
          </a:p>
        </p:txBody>
      </p:sp>
      <p:sp>
        <p:nvSpPr>
          <p:cNvPr id="11" name="TextBox 10"/>
          <p:cNvSpPr txBox="1"/>
          <p:nvPr/>
        </p:nvSpPr>
        <p:spPr>
          <a:xfrm>
            <a:off x="2331720" y="3493008"/>
            <a:ext cx="9144000" cy="274320"/>
          </a:xfrm>
          <a:prstGeom prst="rect">
            <a:avLst/>
          </a:prstGeom>
          <a:noFill/>
        </p:spPr>
        <p:txBody>
          <a:bodyPr wrap="square" anchor="t">
            <a:spAutoFit/>
          </a:bodyPr>
          <a:lstStyle/>
          <a:p>
            <a:pPr algn="l">
              <a:spcAft>
                <a:spcPts val="400"/>
              </a:spcAft>
            </a:pPr>
            <a:r>
              <a:rPr sz="1200" b="1">
                <a:solidFill>
                  <a:srgbClr val="1F6FEB"/>
                </a:solidFill>
                <a:latin typeface="Arial"/>
              </a:rPr>
              <a:t>PROMPT — paste into ChatGPT, Claude or Gemini</a:t>
            </a:r>
          </a:p>
        </p:txBody>
      </p:sp>
      <p:sp>
        <p:nvSpPr>
          <p:cNvPr id="12" name="Rectangle 11"/>
          <p:cNvSpPr/>
          <p:nvPr/>
        </p:nvSpPr>
        <p:spPr>
          <a:xfrm>
            <a:off x="2331720" y="3767328"/>
            <a:ext cx="9235440" cy="169773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3886200"/>
            <a:ext cx="8686800" cy="1459992"/>
          </a:xfrm>
          <a:prstGeom prst="rect">
            <a:avLst/>
          </a:prstGeom>
          <a:noFill/>
        </p:spPr>
        <p:txBody>
          <a:bodyPr wrap="square" anchor="t">
            <a:spAutoFit/>
          </a:bodyPr>
          <a:lstStyle/>
          <a:p>
            <a:pPr algn="l">
              <a:spcAft>
                <a:spcPts val="200"/>
              </a:spcAft>
            </a:pPr>
            <a:r>
              <a:rPr sz="1300" b="0">
                <a:solidFill>
                  <a:srgbClr val="9CDCFE"/>
                </a:solidFill>
                <a:latin typeface="Arial"/>
              </a:rPr>
              <a:t>You are an experienced Agile Product Owner for Tempo, a habit-tracking app. Context: here are the raw feature ideas for our 2.0 release:</a:t>
            </a:r>
          </a:p>
          <a:p>
            <a:pPr algn="l">
              <a:spcAft>
                <a:spcPts val="200"/>
              </a:spcAft>
            </a:pPr>
            <a:r>
              <a:rPr sz="1300" b="0">
                <a:solidFill>
                  <a:srgbClr val="9CDCFE"/>
                </a:solidFill>
                <a:latin typeface="Arial"/>
              </a:rPr>
              <a:t>&lt;PASTE THE RAW FEATURE IDEAS&gt;</a:t>
            </a:r>
          </a:p>
          <a:p>
            <a:pPr algn="l">
              <a:spcAft>
                <a:spcPts val="200"/>
              </a:spcAft>
            </a:pPr>
            <a:r>
              <a:rPr sz="1300" b="0">
                <a:solidFill>
                  <a:srgbClr val="9CDCFE"/>
                </a:solidFill>
                <a:latin typeface="Arial"/>
              </a:rPr>
              <a:t>Task: write clear user stories in the form 'As a &lt;role&gt;, I want &lt;goal&gt;, so that &lt;benefit&gt;'. Format: group them under the three feature themes (shared team habits, smarter reminders, insights dashboard). Constraints: focus on user value, keep each story to one sentence, and cover the main users (an individual user, a team member, a team admin).</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Draft and Refine User Stories and Acceptance Criteria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48840"/>
            <a:ext cx="9235440" cy="1371600"/>
          </a:xfrm>
          <a:prstGeom prst="rect">
            <a:avLst/>
          </a:prstGeom>
          <a:noFill/>
        </p:spPr>
        <p:txBody>
          <a:bodyPr wrap="square" anchor="t">
            <a:spAutoFit/>
          </a:bodyPr>
          <a:lstStyle/>
          <a:p>
            <a:pPr algn="l">
              <a:spcAft>
                <a:spcPts val="400"/>
              </a:spcAft>
            </a:pPr>
            <a:r>
              <a:rPr sz="2300" b="0">
                <a:solidFill>
                  <a:srgbClr val="161B26"/>
                </a:solidFill>
                <a:latin typeface="Arial"/>
              </a:rPr>
              <a:t>Quality-check against INVEST. Ask the AI to grade its own stories and flag the weak ones, using the prompt below, then read its judgement critically.</a:t>
            </a:r>
          </a:p>
        </p:txBody>
      </p:sp>
      <p:sp>
        <p:nvSpPr>
          <p:cNvPr id="11" name="TextBox 10"/>
          <p:cNvSpPr txBox="1"/>
          <p:nvPr/>
        </p:nvSpPr>
        <p:spPr>
          <a:xfrm>
            <a:off x="2331720" y="3493008"/>
            <a:ext cx="9144000" cy="274320"/>
          </a:xfrm>
          <a:prstGeom prst="rect">
            <a:avLst/>
          </a:prstGeom>
          <a:noFill/>
        </p:spPr>
        <p:txBody>
          <a:bodyPr wrap="square" anchor="t">
            <a:spAutoFit/>
          </a:bodyPr>
          <a:lstStyle/>
          <a:p>
            <a:pPr algn="l">
              <a:spcAft>
                <a:spcPts val="400"/>
              </a:spcAft>
            </a:pPr>
            <a:r>
              <a:rPr sz="1200" b="1">
                <a:solidFill>
                  <a:srgbClr val="1F6FEB"/>
                </a:solidFill>
                <a:latin typeface="Arial"/>
              </a:rPr>
              <a:t>PROMPT — paste into ChatGPT, Claude or Gemini</a:t>
            </a:r>
          </a:p>
        </p:txBody>
      </p:sp>
      <p:sp>
        <p:nvSpPr>
          <p:cNvPr id="12" name="Rectangle 11"/>
          <p:cNvSpPr/>
          <p:nvPr/>
        </p:nvSpPr>
        <p:spPr>
          <a:xfrm>
            <a:off x="2331720" y="3767328"/>
            <a:ext cx="9235440" cy="90525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3886200"/>
            <a:ext cx="8686800" cy="667512"/>
          </a:xfrm>
          <a:prstGeom prst="rect">
            <a:avLst/>
          </a:prstGeom>
          <a:noFill/>
        </p:spPr>
        <p:txBody>
          <a:bodyPr wrap="square" anchor="t">
            <a:spAutoFit/>
          </a:bodyPr>
          <a:lstStyle/>
          <a:p>
            <a:pPr algn="l">
              <a:spcAft>
                <a:spcPts val="200"/>
              </a:spcAft>
            </a:pPr>
            <a:r>
              <a:rPr sz="1300" b="0">
                <a:solidFill>
                  <a:srgbClr val="9CDCFE"/>
                </a:solidFill>
                <a:latin typeface="Arial"/>
              </a:rPr>
              <a:t>Review each story above against INVEST (Independent, Negotiable, Valuable, Estimable, Small, Testable). Present a table: Story | INVEST issues | Suggested fix. Be strict — flag any story that is too big or vague to estimate in one sprint.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Draft and Refine User Stories and Acceptance Criteria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48840"/>
            <a:ext cx="9235440" cy="1371600"/>
          </a:xfrm>
          <a:prstGeom prst="rect">
            <a:avLst/>
          </a:prstGeom>
          <a:noFill/>
        </p:spPr>
        <p:txBody>
          <a:bodyPr wrap="square" anchor="t">
            <a:spAutoFit/>
          </a:bodyPr>
          <a:lstStyle/>
          <a:p>
            <a:pPr algn="l">
              <a:spcAft>
                <a:spcPts val="400"/>
              </a:spcAft>
            </a:pPr>
            <a:r>
              <a:rPr sz="2300" b="0">
                <a:solidFill>
                  <a:srgbClr val="161B26"/>
                </a:solidFill>
                <a:latin typeface="Arial"/>
              </a:rPr>
              <a:t>Split the over-large stories. Take one story the AI flagged as too big and ask it to split the work into smaller, independently valuable stories.</a:t>
            </a:r>
          </a:p>
        </p:txBody>
      </p:sp>
      <p:sp>
        <p:nvSpPr>
          <p:cNvPr id="11" name="TextBox 10"/>
          <p:cNvSpPr txBox="1"/>
          <p:nvPr/>
        </p:nvSpPr>
        <p:spPr>
          <a:xfrm>
            <a:off x="2331720" y="3493008"/>
            <a:ext cx="9144000" cy="274320"/>
          </a:xfrm>
          <a:prstGeom prst="rect">
            <a:avLst/>
          </a:prstGeom>
          <a:noFill/>
        </p:spPr>
        <p:txBody>
          <a:bodyPr wrap="square" anchor="t">
            <a:spAutoFit/>
          </a:bodyPr>
          <a:lstStyle/>
          <a:p>
            <a:pPr algn="l">
              <a:spcAft>
                <a:spcPts val="400"/>
              </a:spcAft>
            </a:pPr>
            <a:r>
              <a:rPr sz="1200" b="1">
                <a:solidFill>
                  <a:srgbClr val="1F6FEB"/>
                </a:solidFill>
                <a:latin typeface="Arial"/>
              </a:rPr>
              <a:t>PROMPT — paste into ChatGPT, Claude or Gemini</a:t>
            </a:r>
          </a:p>
        </p:txBody>
      </p:sp>
      <p:sp>
        <p:nvSpPr>
          <p:cNvPr id="12" name="Rectangle 11"/>
          <p:cNvSpPr/>
          <p:nvPr/>
        </p:nvSpPr>
        <p:spPr>
          <a:xfrm>
            <a:off x="2331720" y="3767328"/>
            <a:ext cx="9235440" cy="90525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3886200"/>
            <a:ext cx="8686800" cy="667512"/>
          </a:xfrm>
          <a:prstGeom prst="rect">
            <a:avLst/>
          </a:prstGeom>
          <a:noFill/>
        </p:spPr>
        <p:txBody>
          <a:bodyPr wrap="square" anchor="t">
            <a:spAutoFit/>
          </a:bodyPr>
          <a:lstStyle/>
          <a:p>
            <a:pPr algn="l">
              <a:spcAft>
                <a:spcPts val="200"/>
              </a:spcAft>
            </a:pPr>
            <a:r>
              <a:rPr sz="1300" b="0">
                <a:solidFill>
                  <a:srgbClr val="9CDCFE"/>
                </a:solidFill>
                <a:latin typeface="Arial"/>
              </a:rPr>
              <a:t>Split this user story into 2-4 smaller stories that are each independently valuable, small enough to finish in one sprint, and testable. Keep the same 'As a / I want / so that' form:</a:t>
            </a:r>
          </a:p>
          <a:p>
            <a:pPr algn="l">
              <a:spcAft>
                <a:spcPts val="200"/>
              </a:spcAft>
            </a:pPr>
            <a:r>
              <a:rPr sz="1300" b="0">
                <a:solidFill>
                  <a:srgbClr val="9CDCFE"/>
                </a:solidFill>
                <a:latin typeface="Arial"/>
              </a:rPr>
              <a:t>&lt;PASTE THE OVER-LARGE STORY&gt;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Draft and Refine User Stories and Acceptance Criteria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48840"/>
            <a:ext cx="9235440" cy="1371600"/>
          </a:xfrm>
          <a:prstGeom prst="rect">
            <a:avLst/>
          </a:prstGeom>
          <a:noFill/>
        </p:spPr>
        <p:txBody>
          <a:bodyPr wrap="square" anchor="t">
            <a:spAutoFit/>
          </a:bodyPr>
          <a:lstStyle/>
          <a:p>
            <a:pPr algn="l">
              <a:spcAft>
                <a:spcPts val="400"/>
              </a:spcAft>
            </a:pPr>
            <a:r>
              <a:rPr sz="2300" b="0">
                <a:solidFill>
                  <a:srgbClr val="161B26"/>
                </a:solidFill>
                <a:latin typeface="Arial"/>
              </a:rPr>
              <a:t>Draft acceptance criteria for your key stories. Choose the three most important stories and generate testable criteria with the prompt below.</a:t>
            </a:r>
          </a:p>
        </p:txBody>
      </p:sp>
      <p:sp>
        <p:nvSpPr>
          <p:cNvPr id="11" name="TextBox 10"/>
          <p:cNvSpPr txBox="1"/>
          <p:nvPr/>
        </p:nvSpPr>
        <p:spPr>
          <a:xfrm>
            <a:off x="2331720" y="3493008"/>
            <a:ext cx="9144000" cy="274320"/>
          </a:xfrm>
          <a:prstGeom prst="rect">
            <a:avLst/>
          </a:prstGeom>
          <a:noFill/>
        </p:spPr>
        <p:txBody>
          <a:bodyPr wrap="square" anchor="t">
            <a:spAutoFit/>
          </a:bodyPr>
          <a:lstStyle/>
          <a:p>
            <a:pPr algn="l">
              <a:spcAft>
                <a:spcPts val="400"/>
              </a:spcAft>
            </a:pPr>
            <a:r>
              <a:rPr sz="1200" b="1">
                <a:solidFill>
                  <a:srgbClr val="1F6FEB"/>
                </a:solidFill>
                <a:latin typeface="Arial"/>
              </a:rPr>
              <a:t>PROMPT — paste into ChatGPT, Claude or Gemini</a:t>
            </a:r>
          </a:p>
        </p:txBody>
      </p:sp>
      <p:sp>
        <p:nvSpPr>
          <p:cNvPr id="12" name="Rectangle 11"/>
          <p:cNvSpPr/>
          <p:nvPr/>
        </p:nvSpPr>
        <p:spPr>
          <a:xfrm>
            <a:off x="2331720" y="3767328"/>
            <a:ext cx="9235440" cy="11033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3886200"/>
            <a:ext cx="8686800" cy="865632"/>
          </a:xfrm>
          <a:prstGeom prst="rect">
            <a:avLst/>
          </a:prstGeom>
          <a:noFill/>
        </p:spPr>
        <p:txBody>
          <a:bodyPr wrap="square" anchor="t">
            <a:spAutoFit/>
          </a:bodyPr>
          <a:lstStyle/>
          <a:p>
            <a:pPr algn="l">
              <a:spcAft>
                <a:spcPts val="200"/>
              </a:spcAft>
            </a:pPr>
            <a:r>
              <a:rPr sz="1300" b="0">
                <a:solidFill>
                  <a:srgbClr val="9CDCFE"/>
                </a:solidFill>
                <a:latin typeface="Arial"/>
              </a:rPr>
              <a:t>For each of the three user stories below, write acceptance criteria in Given/When/Then form that define exactly when the story is done. Include at least one edge case or error condition per story. Keep each criterion testable and unambiguous.</a:t>
            </a:r>
          </a:p>
          <a:p>
            <a:pPr algn="l">
              <a:spcAft>
                <a:spcPts val="200"/>
              </a:spcAft>
            </a:pPr>
            <a:r>
              <a:rPr sz="1300" b="0">
                <a:solidFill>
                  <a:srgbClr val="9CDCFE"/>
                </a:solidFill>
                <a:latin typeface="Arial"/>
              </a:rPr>
              <a:t>&lt;PASTE THE THREE KEY STORIES&gt;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Draft and Refine User Stories and Acceptance Criteria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2377440"/>
          </a:xfrm>
          <a:prstGeom prst="rect">
            <a:avLst/>
          </a:prstGeom>
          <a:noFill/>
        </p:spPr>
        <p:txBody>
          <a:bodyPr wrap="square" anchor="ctr">
            <a:spAutoFit/>
          </a:bodyPr>
          <a:lstStyle/>
          <a:p>
            <a:pPr algn="l">
              <a:spcAft>
                <a:spcPts val="400"/>
              </a:spcAft>
            </a:pPr>
            <a:r>
              <a:rPr sz="2600" b="0">
                <a:solidFill>
                  <a:srgbClr val="161B26"/>
                </a:solidFill>
                <a:latin typeface="Arial"/>
              </a:rPr>
              <a:t>Review the acceptance criteria as a human. For each story ask: does 'done' really mean done here? Is a realistic edge case missing (offline, permissions, an empty state, a shared-habit conflict)? Add or correct criteria yourself where the AI missed something.</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Draft and Refine User Stories and Acceptance Criteria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2377440"/>
          </a:xfrm>
          <a:prstGeom prst="rect">
            <a:avLst/>
          </a:prstGeom>
          <a:noFill/>
        </p:spPr>
        <p:txBody>
          <a:bodyPr wrap="square" anchor="ctr">
            <a:spAutoFit/>
          </a:bodyPr>
          <a:lstStyle/>
          <a:p>
            <a:pPr algn="l">
              <a:spcAft>
                <a:spcPts val="400"/>
              </a:spcAft>
            </a:pPr>
            <a:r>
              <a:rPr sz="2600" b="0">
                <a:solidFill>
                  <a:srgbClr val="161B26"/>
                </a:solidFill>
                <a:latin typeface="Arial"/>
              </a:rPr>
              <a:t>Save the stories section of your playbook: the INVEST-checked stories grouped by theme, the split of the over-large story, and the reviewed Given/When/Then acceptance criteria for the key stories, in your Tempo-2.0-Playbook folder.</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Draft and Refine User Stories and Acceptance Criteria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a reviewed set of Tempo 2.0 user stories in proper form, checked against INVEST with at least one over-large story split into smaller ones, and testable Given/When/Then acceptance criteria (including edge cases) for your key stories — all human-reviewed and saved to your playbook.</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Groom and Prioritise the Product Backlog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300" b="0">
                <a:solidFill>
                  <a:srgbClr val="161B26"/>
                </a:solidFill>
                <a:latin typeface="Arial"/>
              </a:rPr>
              <a:t>A raw idea list is not a backlog. In this lab you turn the Tempo 2.0 stories and remaining raw items into a groomed, ordered product backlog. You use an assistant to clean the list — clarify vague wording, split items that are really several, merge duplicates, and fill obvious gaps — so every item is ready. Then you prioritise: the AI applies MoSCoW (Must / Should / Could / Won't) and a value-versus-effort view and explains its reasoning, and you, in the Product Owner's seat, make the final call and adjust the order. The result is a ready, prioritised backlog you can plan a sprint from. BUILDING BLOCK — what you create in this lab becomes a section of your Tempo 2.0 Agile AI Playbook, the connected project you assemble across all 12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500" b="1">
                <a:solidFill>
                  <a:srgbClr val="161B26"/>
                </a:solidFill>
                <a:latin typeface="Arial"/>
              </a:rPr>
              <a:t>A groomed, prioritised Tempo 2.0 product backlog — cleaned and de-duplicated, each item tagged with a MoSCoW category and a value/effort view, ordered for planning, with your Product-Owner adjustments applied.</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Any assistant, the backlog-grooming template from your prompt library, MoSCoW prioritisation, value-versus-effort analysis, Product-Owner review</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Groom and Prioritise the Product Backlog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2377440"/>
          </a:xfrm>
          <a:prstGeom prst="rect">
            <a:avLst/>
          </a:prstGeom>
          <a:noFill/>
        </p:spPr>
        <p:txBody>
          <a:bodyPr wrap="square" anchor="ctr">
            <a:spAutoFit/>
          </a:bodyPr>
          <a:lstStyle/>
          <a:p>
            <a:pPr algn="l">
              <a:spcAft>
                <a:spcPts val="400"/>
              </a:spcAft>
            </a:pPr>
            <a:r>
              <a:rPr sz="2600" b="0">
                <a:solidFill>
                  <a:srgbClr val="161B26"/>
                </a:solidFill>
                <a:latin typeface="Arial"/>
              </a:rPr>
              <a:t>Assemble your raw backlog: your Lab 4 stories plus any remaining raw ideas and bug fixes from the Tempo 2.0 brief that are not yet stories. Paste them into any assistant as one messy list so you can groom it.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Groom and Prioritise the Product Backlog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48840"/>
            <a:ext cx="9235440" cy="1371600"/>
          </a:xfrm>
          <a:prstGeom prst="rect">
            <a:avLst/>
          </a:prstGeom>
          <a:noFill/>
        </p:spPr>
        <p:txBody>
          <a:bodyPr wrap="square" anchor="t">
            <a:spAutoFit/>
          </a:bodyPr>
          <a:lstStyle/>
          <a:p>
            <a:pPr algn="l">
              <a:spcAft>
                <a:spcPts val="400"/>
              </a:spcAft>
            </a:pPr>
            <a:r>
              <a:rPr sz="2300" b="0">
                <a:solidFill>
                  <a:srgbClr val="161B26"/>
                </a:solidFill>
                <a:latin typeface="Arial"/>
              </a:rPr>
              <a:t>Groom the list. Use the prompt below to clarify, split, merge and de-duplicate.</a:t>
            </a:r>
          </a:p>
        </p:txBody>
      </p:sp>
      <p:sp>
        <p:nvSpPr>
          <p:cNvPr id="11" name="TextBox 10"/>
          <p:cNvSpPr txBox="1"/>
          <p:nvPr/>
        </p:nvSpPr>
        <p:spPr>
          <a:xfrm>
            <a:off x="2331720" y="3493008"/>
            <a:ext cx="9144000" cy="274320"/>
          </a:xfrm>
          <a:prstGeom prst="rect">
            <a:avLst/>
          </a:prstGeom>
          <a:noFill/>
        </p:spPr>
        <p:txBody>
          <a:bodyPr wrap="square" anchor="t">
            <a:spAutoFit/>
          </a:bodyPr>
          <a:lstStyle/>
          <a:p>
            <a:pPr algn="l">
              <a:spcAft>
                <a:spcPts val="400"/>
              </a:spcAft>
            </a:pPr>
            <a:r>
              <a:rPr sz="1200" b="1">
                <a:solidFill>
                  <a:srgbClr val="1F6FEB"/>
                </a:solidFill>
                <a:latin typeface="Arial"/>
              </a:rPr>
              <a:t>PROMPT — paste into ChatGPT, Claude or Gemini</a:t>
            </a:r>
          </a:p>
        </p:txBody>
      </p:sp>
      <p:sp>
        <p:nvSpPr>
          <p:cNvPr id="12" name="Rectangle 11"/>
          <p:cNvSpPr/>
          <p:nvPr/>
        </p:nvSpPr>
        <p:spPr>
          <a:xfrm>
            <a:off x="2331720" y="3767328"/>
            <a:ext cx="9235440" cy="130149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3886200"/>
            <a:ext cx="8686800" cy="1063752"/>
          </a:xfrm>
          <a:prstGeom prst="rect">
            <a:avLst/>
          </a:prstGeom>
          <a:noFill/>
        </p:spPr>
        <p:txBody>
          <a:bodyPr wrap="square" anchor="t">
            <a:spAutoFit/>
          </a:bodyPr>
          <a:lstStyle/>
          <a:p>
            <a:pPr algn="l">
              <a:spcAft>
                <a:spcPts val="200"/>
              </a:spcAft>
            </a:pPr>
            <a:r>
              <a:rPr sz="1300" b="0">
                <a:solidFill>
                  <a:srgbClr val="9CDCFE"/>
                </a:solidFill>
                <a:latin typeface="Arial"/>
              </a:rPr>
              <a:t>You are helping a Product Owner groom a product backlog. Here is our raw Tempo 2.0 backlog:</a:t>
            </a:r>
          </a:p>
          <a:p>
            <a:pPr algn="l">
              <a:spcAft>
                <a:spcPts val="200"/>
              </a:spcAft>
            </a:pPr>
            <a:r>
              <a:rPr sz="1300" b="0">
                <a:solidFill>
                  <a:srgbClr val="9CDCFE"/>
                </a:solidFill>
                <a:latin typeface="Arial"/>
              </a:rPr>
              <a:t>&lt;PASTE THE RAW BACKLOG&gt;</a:t>
            </a:r>
          </a:p>
          <a:p>
            <a:pPr algn="l">
              <a:spcAft>
                <a:spcPts val="200"/>
              </a:spcAft>
            </a:pPr>
            <a:r>
              <a:rPr sz="1300" b="0">
                <a:solidFill>
                  <a:srgbClr val="9CDCFE"/>
                </a:solidFill>
                <a:latin typeface="Arial"/>
              </a:rPr>
              <a:t>Task: return a cleaned, ready backlog. Clarify any vague item, split any item that is really several, merge duplicates, and flag anything missing important detail. Present it as a numbered list with a one-line description per item. Do not invent new features that are not implied by the list.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Groom and Prioritise the Product Backlog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94560"/>
            <a:ext cx="9235440" cy="2377440"/>
          </a:xfrm>
          <a:prstGeom prst="rect">
            <a:avLst/>
          </a:prstGeom>
          <a:noFill/>
        </p:spPr>
        <p:txBody>
          <a:bodyPr wrap="square" anchor="ctr">
            <a:spAutoFit/>
          </a:bodyPr>
          <a:lstStyle/>
          <a:p>
            <a:pPr algn="l">
              <a:spcAft>
                <a:spcPts val="400"/>
              </a:spcAft>
            </a:pPr>
            <a:r>
              <a:rPr sz="2600" b="0">
                <a:solidFill>
                  <a:srgbClr val="161B26"/>
                </a:solidFill>
                <a:latin typeface="Arial"/>
              </a:rPr>
              <a:t>Review the grooming. Check the AI did not quietly drop or invent items. Confirm each split and merge makes sense to you; undo any you disagree with. Grooming is a judgement call, not an automatic one.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Groom and Prioritise the Product Backlog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48840"/>
            <a:ext cx="9235440" cy="1371600"/>
          </a:xfrm>
          <a:prstGeom prst="rect">
            <a:avLst/>
          </a:prstGeom>
          <a:noFill/>
        </p:spPr>
        <p:txBody>
          <a:bodyPr wrap="square" anchor="t">
            <a:spAutoFit/>
          </a:bodyPr>
          <a:lstStyle/>
          <a:p>
            <a:pPr algn="l">
              <a:spcAft>
                <a:spcPts val="400"/>
              </a:spcAft>
            </a:pPr>
            <a:r>
              <a:rPr sz="2300" b="0">
                <a:solidFill>
                  <a:srgbClr val="161B26"/>
                </a:solidFill>
                <a:latin typeface="Arial"/>
              </a:rPr>
              <a:t>Prioritise with MoSCoW. Ask the AI to categorise and explain, using the prompt below.</a:t>
            </a:r>
          </a:p>
        </p:txBody>
      </p:sp>
      <p:sp>
        <p:nvSpPr>
          <p:cNvPr id="11" name="TextBox 10"/>
          <p:cNvSpPr txBox="1"/>
          <p:nvPr/>
        </p:nvSpPr>
        <p:spPr>
          <a:xfrm>
            <a:off x="2331720" y="3493008"/>
            <a:ext cx="9144000" cy="274320"/>
          </a:xfrm>
          <a:prstGeom prst="rect">
            <a:avLst/>
          </a:prstGeom>
          <a:noFill/>
        </p:spPr>
        <p:txBody>
          <a:bodyPr wrap="square" anchor="t">
            <a:spAutoFit/>
          </a:bodyPr>
          <a:lstStyle/>
          <a:p>
            <a:pPr algn="l">
              <a:spcAft>
                <a:spcPts val="400"/>
              </a:spcAft>
            </a:pPr>
            <a:r>
              <a:rPr sz="1200" b="1">
                <a:solidFill>
                  <a:srgbClr val="1F6FEB"/>
                </a:solidFill>
                <a:latin typeface="Arial"/>
              </a:rPr>
              <a:t>PROMPT — paste into ChatGPT, Claude or Gemini</a:t>
            </a:r>
          </a:p>
        </p:txBody>
      </p:sp>
      <p:sp>
        <p:nvSpPr>
          <p:cNvPr id="12" name="Rectangle 11"/>
          <p:cNvSpPr/>
          <p:nvPr/>
        </p:nvSpPr>
        <p:spPr>
          <a:xfrm>
            <a:off x="2331720" y="3767328"/>
            <a:ext cx="9235440" cy="11033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3886200"/>
            <a:ext cx="8686800" cy="865632"/>
          </a:xfrm>
          <a:prstGeom prst="rect">
            <a:avLst/>
          </a:prstGeom>
          <a:noFill/>
        </p:spPr>
        <p:txBody>
          <a:bodyPr wrap="square" anchor="t">
            <a:spAutoFit/>
          </a:bodyPr>
          <a:lstStyle/>
          <a:p>
            <a:pPr algn="l">
              <a:spcAft>
                <a:spcPts val="200"/>
              </a:spcAft>
            </a:pPr>
            <a:r>
              <a:rPr sz="1300" b="0">
                <a:solidFill>
                  <a:srgbClr val="9CDCFE"/>
                </a:solidFill>
                <a:latin typeface="Arial"/>
              </a:rPr>
              <a:t>Prioritise the groomed backlog using MoSCoW (Must have, Should have, Could have, Won't have this release). For the Tempo 2.0 release, our goal is to ship shared team habits and reliable reminders first. Present a table: Item | MoSCoW | One-line reason. Then list the 'Must have' items in the order you would build them and explain the ordering.</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Groom and Prioritise the Product Backlog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48840"/>
            <a:ext cx="9235440" cy="1371600"/>
          </a:xfrm>
          <a:prstGeom prst="rect">
            <a:avLst/>
          </a:prstGeom>
          <a:noFill/>
        </p:spPr>
        <p:txBody>
          <a:bodyPr wrap="square" anchor="t">
            <a:spAutoFit/>
          </a:bodyPr>
          <a:lstStyle/>
          <a:p>
            <a:pPr algn="l">
              <a:spcAft>
                <a:spcPts val="400"/>
              </a:spcAft>
            </a:pPr>
            <a:r>
              <a:rPr sz="2300" b="0">
                <a:solidFill>
                  <a:srgbClr val="161B26"/>
                </a:solidFill>
                <a:latin typeface="Arial"/>
              </a:rPr>
              <a:t>Add a value-versus-effort view. Ask the AI to estimate relative value and effort so you can spot quick wins and expensive extras.</a:t>
            </a:r>
          </a:p>
        </p:txBody>
      </p:sp>
      <p:sp>
        <p:nvSpPr>
          <p:cNvPr id="11" name="TextBox 10"/>
          <p:cNvSpPr txBox="1"/>
          <p:nvPr/>
        </p:nvSpPr>
        <p:spPr>
          <a:xfrm>
            <a:off x="2331720" y="3493008"/>
            <a:ext cx="9144000" cy="274320"/>
          </a:xfrm>
          <a:prstGeom prst="rect">
            <a:avLst/>
          </a:prstGeom>
          <a:noFill/>
        </p:spPr>
        <p:txBody>
          <a:bodyPr wrap="square" anchor="t">
            <a:spAutoFit/>
          </a:bodyPr>
          <a:lstStyle/>
          <a:p>
            <a:pPr algn="l">
              <a:spcAft>
                <a:spcPts val="400"/>
              </a:spcAft>
            </a:pPr>
            <a:r>
              <a:rPr sz="1200" b="1">
                <a:solidFill>
                  <a:srgbClr val="1F6FEB"/>
                </a:solidFill>
                <a:latin typeface="Arial"/>
              </a:rPr>
              <a:t>PROMPT — paste into ChatGPT, Claude or Gemini</a:t>
            </a:r>
          </a:p>
        </p:txBody>
      </p:sp>
      <p:sp>
        <p:nvSpPr>
          <p:cNvPr id="12" name="Rectangle 11"/>
          <p:cNvSpPr/>
          <p:nvPr/>
        </p:nvSpPr>
        <p:spPr>
          <a:xfrm>
            <a:off x="2331720" y="3767328"/>
            <a:ext cx="9235440" cy="90525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3886200"/>
            <a:ext cx="8686800" cy="667512"/>
          </a:xfrm>
          <a:prstGeom prst="rect">
            <a:avLst/>
          </a:prstGeom>
          <a:noFill/>
        </p:spPr>
        <p:txBody>
          <a:bodyPr wrap="square" anchor="t">
            <a:spAutoFit/>
          </a:bodyPr>
          <a:lstStyle/>
          <a:p>
            <a:pPr algn="l">
              <a:spcAft>
                <a:spcPts val="200"/>
              </a:spcAft>
            </a:pPr>
            <a:r>
              <a:rPr sz="1300" b="0">
                <a:solidFill>
                  <a:srgbClr val="9CDCFE"/>
                </a:solidFill>
                <a:latin typeface="Arial"/>
              </a:rPr>
              <a:t>For each backlog item, add a rough Value (High/Medium/Low) and Effort (High/Medium/Low) rating and mark any that are High-value / Low-effort as 'quick win'. Present as a table and briefly note which items look like poor value for their effort.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Groom and Prioritise the Product Backlog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2377440"/>
          </a:xfrm>
          <a:prstGeom prst="rect">
            <a:avLst/>
          </a:prstGeom>
          <a:noFill/>
        </p:spPr>
        <p:txBody>
          <a:bodyPr wrap="square" anchor="ctr">
            <a:spAutoFit/>
          </a:bodyPr>
          <a:lstStyle/>
          <a:p>
            <a:pPr algn="l">
              <a:spcAft>
                <a:spcPts val="400"/>
              </a:spcAft>
            </a:pPr>
            <a:r>
              <a:rPr sz="2500" b="0">
                <a:solidFill>
                  <a:srgbClr val="161B26"/>
                </a:solidFill>
                <a:latin typeface="Arial"/>
              </a:rPr>
              <a:t>Make the Product Owner's call. Reconcile MoSCoW and value/effort into one ordered backlog. Move at least two items yourself against the AI's suggestion where you disagree, and write one line explaining each override — this is the human decision the AI supports but does not make.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Groom and Prioritise the Product Backlog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2377440"/>
          </a:xfrm>
          <a:prstGeom prst="rect">
            <a:avLst/>
          </a:prstGeom>
          <a:noFill/>
        </p:spPr>
        <p:txBody>
          <a:bodyPr wrap="square" anchor="ctr">
            <a:spAutoFit/>
          </a:bodyPr>
          <a:lstStyle/>
          <a:p>
            <a:pPr algn="l">
              <a:spcAft>
                <a:spcPts val="400"/>
              </a:spcAft>
            </a:pPr>
            <a:r>
              <a:rPr sz="2600" b="0">
                <a:solidFill>
                  <a:srgbClr val="161B26"/>
                </a:solidFill>
                <a:latin typeface="Arial"/>
              </a:rPr>
              <a:t>Save the prioritised backlog section of your playbook: the groomed items, their MoSCoW and value/effort tags, the final ordering, and your override notes, in your Tempo-2.0-Playbook folder.</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Groom and Prioritise the Product Backlog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a groomed, de-duplicated Tempo 2.0 backlog with every item tagged by MoSCoW and value/effort, ordered ready for planning, and you have made at least two Product-Owner overrides against the AI's suggestion with reasons — a backlog you own, not one the AI decided.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Plan the Sprint, Estimate, and Build the Release Roadmap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6</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300" b="0">
                <a:solidFill>
                  <a:srgbClr val="161B26"/>
                </a:solidFill>
                <a:latin typeface="Arial"/>
              </a:rPr>
              <a:t>With a prioritised backlog you can plan. In this lab you use an assistant to support sprint planning end to end. Given the team's capacity and the top of the backlog, the AI proposes a realistic sprint goal and a candidate sprint backlog and helps break the top stories into tasks. It suggests relative story-point estimates and — crucially — surfaces the assumptions and risks behind each, giving the team a starting point for a planning-poker conversation rather than numbers to accept. Finally it drafts a multi-sprint roadmap and a release plan from the backlog, making themes, dependencies and milestones explicit. You keep ownership throughout: the AI's numbers are inputs, the team's commitment is the decision. This lab completes Day 1. BUILDING BLOCK — what you create in this lab becomes a section of your Tempo 2.0 Agile AI Playbook, the connected project you assemble across all 12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300" b="1">
                <a:solidFill>
                  <a:srgbClr val="161B26"/>
                </a:solidFill>
                <a:latin typeface="Arial"/>
              </a:rPr>
              <a:t>A first-sprint plan for Tempo 2.0 (a sprint goal, a candidate sprint backlog broken into tasks), relative estimates with their assumptions and risks surfaced, and a multi-sprint roadmap and release plan — all reviewed and adjusted by you.</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Any assistant, the prioritised backlog from Lab 5, team capacity, sprint-goal and task breakdown, story-point estimation support, roadmap and release planning</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Plan the Sprint, Estimate, and Build the Release Roadmap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2377440"/>
          </a:xfrm>
          <a:prstGeom prst="rect">
            <a:avLst/>
          </a:prstGeom>
          <a:noFill/>
        </p:spPr>
        <p:txBody>
          <a:bodyPr wrap="square" anchor="ctr">
            <a:spAutoFit/>
          </a:bodyPr>
          <a:lstStyle/>
          <a:p>
            <a:pPr algn="l">
              <a:spcAft>
                <a:spcPts val="400"/>
              </a:spcAft>
            </a:pPr>
            <a:r>
              <a:rPr sz="2600" b="0">
                <a:solidFill>
                  <a:srgbClr val="161B26"/>
                </a:solidFill>
                <a:latin typeface="Arial"/>
              </a:rPr>
              <a:t>Gather your inputs: your prioritised backlog from Lab 5 and the team's capacity from the brief (team size, sprint length, and any planned leave). Note the sprint length is two weeks.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Plan the Sprint, Estimate, and Build the Release Roadmap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48840"/>
            <a:ext cx="9235440" cy="1371600"/>
          </a:xfrm>
          <a:prstGeom prst="rect">
            <a:avLst/>
          </a:prstGeom>
          <a:noFill/>
        </p:spPr>
        <p:txBody>
          <a:bodyPr wrap="square" anchor="t">
            <a:spAutoFit/>
          </a:bodyPr>
          <a:lstStyle/>
          <a:p>
            <a:pPr algn="l">
              <a:spcAft>
                <a:spcPts val="400"/>
              </a:spcAft>
            </a:pPr>
            <a:r>
              <a:rPr sz="2300" b="0">
                <a:solidFill>
                  <a:srgbClr val="161B26"/>
                </a:solidFill>
                <a:latin typeface="Arial"/>
              </a:rPr>
              <a:t>Propose a sprint goal and candidate sprint backlog. Paste the prompt below with your inputs.</a:t>
            </a:r>
          </a:p>
        </p:txBody>
      </p:sp>
      <p:sp>
        <p:nvSpPr>
          <p:cNvPr id="11" name="TextBox 10"/>
          <p:cNvSpPr txBox="1"/>
          <p:nvPr/>
        </p:nvSpPr>
        <p:spPr>
          <a:xfrm>
            <a:off x="2331720" y="3493008"/>
            <a:ext cx="9144000" cy="274320"/>
          </a:xfrm>
          <a:prstGeom prst="rect">
            <a:avLst/>
          </a:prstGeom>
          <a:noFill/>
        </p:spPr>
        <p:txBody>
          <a:bodyPr wrap="square" anchor="t">
            <a:spAutoFit/>
          </a:bodyPr>
          <a:lstStyle/>
          <a:p>
            <a:pPr algn="l">
              <a:spcAft>
                <a:spcPts val="400"/>
              </a:spcAft>
            </a:pPr>
            <a:r>
              <a:rPr sz="1200" b="1">
                <a:solidFill>
                  <a:srgbClr val="1F6FEB"/>
                </a:solidFill>
                <a:latin typeface="Arial"/>
              </a:rPr>
              <a:t>PROMPT — paste into ChatGPT, Claude or Gemini</a:t>
            </a:r>
          </a:p>
        </p:txBody>
      </p:sp>
      <p:sp>
        <p:nvSpPr>
          <p:cNvPr id="12" name="Rectangle 11"/>
          <p:cNvSpPr/>
          <p:nvPr/>
        </p:nvSpPr>
        <p:spPr>
          <a:xfrm>
            <a:off x="2331720" y="3767328"/>
            <a:ext cx="9235440" cy="149961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3886200"/>
            <a:ext cx="8686800" cy="1261872"/>
          </a:xfrm>
          <a:prstGeom prst="rect">
            <a:avLst/>
          </a:prstGeom>
          <a:noFill/>
        </p:spPr>
        <p:txBody>
          <a:bodyPr wrap="square" anchor="t">
            <a:spAutoFit/>
          </a:bodyPr>
          <a:lstStyle/>
          <a:p>
            <a:pPr algn="l">
              <a:spcAft>
                <a:spcPts val="200"/>
              </a:spcAft>
            </a:pPr>
            <a:r>
              <a:rPr sz="1300" b="0">
                <a:solidFill>
                  <a:srgbClr val="9CDCFE"/>
                </a:solidFill>
                <a:latin typeface="Arial"/>
              </a:rPr>
              <a:t>You are an Agile delivery assistant. Context: here is our prioritised Tempo 2.0 backlog:</a:t>
            </a:r>
          </a:p>
          <a:p>
            <a:pPr algn="l">
              <a:spcAft>
                <a:spcPts val="200"/>
              </a:spcAft>
            </a:pPr>
            <a:r>
              <a:rPr sz="1300" b="0">
                <a:solidFill>
                  <a:srgbClr val="9CDCFE"/>
                </a:solidFill>
                <a:latin typeface="Arial"/>
              </a:rPr>
              <a:t>&lt;PASTE THE PRIORITISED BACKLOG&gt;</a:t>
            </a:r>
          </a:p>
          <a:p>
            <a:pPr algn="l">
              <a:spcAft>
                <a:spcPts val="200"/>
              </a:spcAft>
            </a:pPr>
            <a:r>
              <a:rPr sz="1300" b="0">
                <a:solidFill>
                  <a:srgbClr val="9CDCFE"/>
                </a:solidFill>
                <a:latin typeface="Arial"/>
              </a:rPr>
              <a:t>Our team capacity for a 2-week sprint is &lt;TEAM CAPACITY&gt;. Task: propose one clear sprint goal for Sprint 1 and a candidate sprint backlog of items that fit the capacity and serve that goal. Format: state the sprint goal in one sentence, then list the selected items. Constraints: prefer the 'Must have' items and a coherent goal over cramming in unrelated work.</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Plan the Sprint, Estimate, and Build the Release Roadmap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48840"/>
            <a:ext cx="9235440" cy="1371600"/>
          </a:xfrm>
          <a:prstGeom prst="rect">
            <a:avLst/>
          </a:prstGeom>
          <a:noFill/>
        </p:spPr>
        <p:txBody>
          <a:bodyPr wrap="square" anchor="t">
            <a:spAutoFit/>
          </a:bodyPr>
          <a:lstStyle/>
          <a:p>
            <a:pPr algn="l">
              <a:spcAft>
                <a:spcPts val="400"/>
              </a:spcAft>
            </a:pPr>
            <a:r>
              <a:rPr sz="2300" b="0">
                <a:solidFill>
                  <a:srgbClr val="161B26"/>
                </a:solidFill>
                <a:latin typeface="Arial"/>
              </a:rPr>
              <a:t>Break the top stories into tasks. Ask the AI to decompose the candidate sprint backlog into concrete tasks.</a:t>
            </a:r>
          </a:p>
        </p:txBody>
      </p:sp>
      <p:sp>
        <p:nvSpPr>
          <p:cNvPr id="11" name="TextBox 10"/>
          <p:cNvSpPr txBox="1"/>
          <p:nvPr/>
        </p:nvSpPr>
        <p:spPr>
          <a:xfrm>
            <a:off x="2331720" y="3493008"/>
            <a:ext cx="9144000" cy="274320"/>
          </a:xfrm>
          <a:prstGeom prst="rect">
            <a:avLst/>
          </a:prstGeom>
          <a:noFill/>
        </p:spPr>
        <p:txBody>
          <a:bodyPr wrap="square" anchor="t">
            <a:spAutoFit/>
          </a:bodyPr>
          <a:lstStyle/>
          <a:p>
            <a:pPr algn="l">
              <a:spcAft>
                <a:spcPts val="400"/>
              </a:spcAft>
            </a:pPr>
            <a:r>
              <a:rPr sz="1200" b="1">
                <a:solidFill>
                  <a:srgbClr val="1F6FEB"/>
                </a:solidFill>
                <a:latin typeface="Arial"/>
              </a:rPr>
              <a:t>PROMPT — paste into ChatGPT, Claude or Gemini</a:t>
            </a:r>
          </a:p>
        </p:txBody>
      </p:sp>
      <p:sp>
        <p:nvSpPr>
          <p:cNvPr id="12" name="Rectangle 11"/>
          <p:cNvSpPr/>
          <p:nvPr/>
        </p:nvSpPr>
        <p:spPr>
          <a:xfrm>
            <a:off x="2331720" y="3767328"/>
            <a:ext cx="9235440" cy="90525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3886200"/>
            <a:ext cx="8686800" cy="667512"/>
          </a:xfrm>
          <a:prstGeom prst="rect">
            <a:avLst/>
          </a:prstGeom>
          <a:noFill/>
        </p:spPr>
        <p:txBody>
          <a:bodyPr wrap="square" anchor="t">
            <a:spAutoFit/>
          </a:bodyPr>
          <a:lstStyle/>
          <a:p>
            <a:pPr algn="l">
              <a:spcAft>
                <a:spcPts val="200"/>
              </a:spcAft>
            </a:pPr>
            <a:r>
              <a:rPr sz="1300" b="0">
                <a:solidFill>
                  <a:srgbClr val="9CDCFE"/>
                </a:solidFill>
                <a:latin typeface="Arial"/>
              </a:rPr>
              <a:t>Break each item in the candidate sprint backlog into the concrete tasks needed to deliver it (design, build, test, review, etc.). Present as a checklist grouped by story. Keep tasks small enough to finish in a day or two.</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Plan the Sprint, Estimate, and Build the Release Roadmap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48840"/>
            <a:ext cx="9235440" cy="1371600"/>
          </a:xfrm>
          <a:prstGeom prst="rect">
            <a:avLst/>
          </a:prstGeom>
          <a:noFill/>
        </p:spPr>
        <p:txBody>
          <a:bodyPr wrap="square" anchor="t">
            <a:spAutoFit/>
          </a:bodyPr>
          <a:lstStyle/>
          <a:p>
            <a:pPr algn="l">
              <a:spcAft>
                <a:spcPts val="400"/>
              </a:spcAft>
            </a:pPr>
            <a:r>
              <a:rPr sz="2300" b="0">
                <a:solidFill>
                  <a:srgbClr val="161B26"/>
                </a:solidFill>
                <a:latin typeface="Arial"/>
              </a:rPr>
              <a:t>Get estimation support with assumptions surfaced. Use the prompt below — the assumptions matter more than the numbers.</a:t>
            </a:r>
          </a:p>
        </p:txBody>
      </p:sp>
      <p:sp>
        <p:nvSpPr>
          <p:cNvPr id="11" name="TextBox 10"/>
          <p:cNvSpPr txBox="1"/>
          <p:nvPr/>
        </p:nvSpPr>
        <p:spPr>
          <a:xfrm>
            <a:off x="2331720" y="3493008"/>
            <a:ext cx="9144000" cy="274320"/>
          </a:xfrm>
          <a:prstGeom prst="rect">
            <a:avLst/>
          </a:prstGeom>
          <a:noFill/>
        </p:spPr>
        <p:txBody>
          <a:bodyPr wrap="square" anchor="t">
            <a:spAutoFit/>
          </a:bodyPr>
          <a:lstStyle/>
          <a:p>
            <a:pPr algn="l">
              <a:spcAft>
                <a:spcPts val="400"/>
              </a:spcAft>
            </a:pPr>
            <a:r>
              <a:rPr sz="1200" b="1">
                <a:solidFill>
                  <a:srgbClr val="1F6FEB"/>
                </a:solidFill>
                <a:latin typeface="Arial"/>
              </a:rPr>
              <a:t>PROMPT — paste into ChatGPT, Claude or Gemini</a:t>
            </a:r>
          </a:p>
        </p:txBody>
      </p:sp>
      <p:sp>
        <p:nvSpPr>
          <p:cNvPr id="12" name="Rectangle 11"/>
          <p:cNvSpPr/>
          <p:nvPr/>
        </p:nvSpPr>
        <p:spPr>
          <a:xfrm>
            <a:off x="2331720" y="3767328"/>
            <a:ext cx="9235440" cy="90525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3886200"/>
            <a:ext cx="8686800" cy="667512"/>
          </a:xfrm>
          <a:prstGeom prst="rect">
            <a:avLst/>
          </a:prstGeom>
          <a:noFill/>
        </p:spPr>
        <p:txBody>
          <a:bodyPr wrap="square" anchor="t">
            <a:spAutoFit/>
          </a:bodyPr>
          <a:lstStyle/>
          <a:p>
            <a:pPr algn="l">
              <a:spcAft>
                <a:spcPts val="200"/>
              </a:spcAft>
            </a:pPr>
            <a:r>
              <a:rPr sz="1300" b="0">
                <a:solidFill>
                  <a:srgbClr val="9CDCFE"/>
                </a:solidFill>
                <a:latin typeface="Arial"/>
              </a:rPr>
              <a:t>Suggest a relative story-point estimate (using the sequence 1, 2, 3, 5, 8, 13) for each item in the candidate sprint backlog. For every estimate, state the key assumption and the main risk behind it in one line. Make clear these are a starting point for the team's planning-poker discussion, not final numbers.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Plan the Sprint, Estimate, and Build the Release Roadmap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94560"/>
            <a:ext cx="9235440" cy="2377440"/>
          </a:xfrm>
          <a:prstGeom prst="rect">
            <a:avLst/>
          </a:prstGeom>
          <a:noFill/>
        </p:spPr>
        <p:txBody>
          <a:bodyPr wrap="square" anchor="ctr">
            <a:spAutoFit/>
          </a:bodyPr>
          <a:lstStyle/>
          <a:p>
            <a:pPr algn="l">
              <a:spcAft>
                <a:spcPts val="400"/>
              </a:spcAft>
            </a:pPr>
            <a:r>
              <a:rPr sz="2600" b="0">
                <a:solidFill>
                  <a:srgbClr val="161B26"/>
                </a:solidFill>
                <a:latin typeface="Arial"/>
              </a:rPr>
              <a:t>Run the human estimation check. Pick two items where you disagree with the AI's story points and write your own estimate and reasoning. This mirrors the planning-poker conversation the team would have — the AI opens it, the team settles it.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Plan the Sprint, Estimate, and Build the Release Roadmap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48840"/>
            <a:ext cx="9235440" cy="1371600"/>
          </a:xfrm>
          <a:prstGeom prst="rect">
            <a:avLst/>
          </a:prstGeom>
          <a:noFill/>
        </p:spPr>
        <p:txBody>
          <a:bodyPr wrap="square" anchor="t">
            <a:spAutoFit/>
          </a:bodyPr>
          <a:lstStyle/>
          <a:p>
            <a:pPr algn="l">
              <a:spcAft>
                <a:spcPts val="400"/>
              </a:spcAft>
            </a:pPr>
            <a:r>
              <a:rPr sz="2300" b="0">
                <a:solidFill>
                  <a:srgbClr val="161B26"/>
                </a:solidFill>
                <a:latin typeface="Arial"/>
              </a:rPr>
              <a:t>Draft the roadmap and release plan. Generate a higher-level view with the prompt below.</a:t>
            </a:r>
          </a:p>
        </p:txBody>
      </p:sp>
      <p:sp>
        <p:nvSpPr>
          <p:cNvPr id="11" name="TextBox 10"/>
          <p:cNvSpPr txBox="1"/>
          <p:nvPr/>
        </p:nvSpPr>
        <p:spPr>
          <a:xfrm>
            <a:off x="2331720" y="3493008"/>
            <a:ext cx="9144000" cy="274320"/>
          </a:xfrm>
          <a:prstGeom prst="rect">
            <a:avLst/>
          </a:prstGeom>
          <a:noFill/>
        </p:spPr>
        <p:txBody>
          <a:bodyPr wrap="square" anchor="t">
            <a:spAutoFit/>
          </a:bodyPr>
          <a:lstStyle/>
          <a:p>
            <a:pPr algn="l">
              <a:spcAft>
                <a:spcPts val="400"/>
              </a:spcAft>
            </a:pPr>
            <a:r>
              <a:rPr sz="1200" b="1">
                <a:solidFill>
                  <a:srgbClr val="1F6FEB"/>
                </a:solidFill>
                <a:latin typeface="Arial"/>
              </a:rPr>
              <a:t>PROMPT — paste into ChatGPT, Claude or Gemini</a:t>
            </a:r>
          </a:p>
        </p:txBody>
      </p:sp>
      <p:sp>
        <p:nvSpPr>
          <p:cNvPr id="12" name="Rectangle 11"/>
          <p:cNvSpPr/>
          <p:nvPr/>
        </p:nvSpPr>
        <p:spPr>
          <a:xfrm>
            <a:off x="2331720" y="3767328"/>
            <a:ext cx="9235440" cy="130149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3886200"/>
            <a:ext cx="8686800" cy="1063752"/>
          </a:xfrm>
          <a:prstGeom prst="rect">
            <a:avLst/>
          </a:prstGeom>
          <a:noFill/>
        </p:spPr>
        <p:txBody>
          <a:bodyPr wrap="square" anchor="t">
            <a:spAutoFit/>
          </a:bodyPr>
          <a:lstStyle/>
          <a:p>
            <a:pPr algn="l">
              <a:spcAft>
                <a:spcPts val="200"/>
              </a:spcAft>
            </a:pPr>
            <a:r>
              <a:rPr sz="1300" b="0">
                <a:solidFill>
                  <a:srgbClr val="9CDCFE"/>
                </a:solidFill>
                <a:latin typeface="Arial"/>
              </a:rPr>
              <a:t>From the full prioritised backlog, draft a multi-sprint roadmap for Tempo 2.0 across the next 4 sprints, grouping work into themes (shared team habits, smarter reminders, insights dashboard, fixes and polish). Then draft a release plan showing which themes ship in which release, and list the key dependencies and milestones. Present the roadmap as a table (Sprint | Theme | Main items) and the release plan as a short bulleted plan. State any assumption you make.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Plan the Sprint, Estimate, and Build the Release Roadmap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2377440"/>
          </a:xfrm>
          <a:prstGeom prst="rect">
            <a:avLst/>
          </a:prstGeom>
          <a:noFill/>
        </p:spPr>
        <p:txBody>
          <a:bodyPr wrap="square" anchor="ctr">
            <a:spAutoFit/>
          </a:bodyPr>
          <a:lstStyle/>
          <a:p>
            <a:pPr algn="l">
              <a:spcAft>
                <a:spcPts val="400"/>
              </a:spcAft>
            </a:pPr>
            <a:r>
              <a:rPr sz="2500" b="0">
                <a:solidFill>
                  <a:srgbClr val="161B26"/>
                </a:solidFill>
                <a:latin typeface="Arial"/>
              </a:rPr>
              <a:t>Review and save. Sanity-check the roadmap against reality — is the sequence sensible, are dependencies right, is anything over-committed? Adjust it yourself, then save the sprint plan, estimates and roadmap as the planning section of your Tempo-2.0-Playbook. Day 1 is complete: you have a toolkit, a prioritised backlog and a plan.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Plan the Sprint, Estimate, and Build the Release Roadmap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a reviewed Sprint 1 plan (a one-sentence sprint goal and a capacity-fit sprint backlog broken into tasks), story-point estimates with their assumptions and risks surfaced and at least two you re-estimated yourself, and a multi-sprint roadmap and release plan with dependencies and milestones — all saved to your playbook.</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Recap — AI for Backlogs, User Stories and Planning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 can now: Turn raw Tempo 2.0 feature ideas into INVEST-quality user stories with AI, then draft and refine testable acceptance criteria, reviewing every one so it reflects the real user and real value.</a:t>
            </a:r>
          </a:p>
        </p:txBody>
      </p:sp>
      <p:sp>
        <p:nvSpPr>
          <p:cNvPr id="12" name="Rectangle 11"/>
          <p:cNvSpPr/>
          <p:nvPr/>
        </p:nvSpPr>
        <p:spPr>
          <a:xfrm>
            <a:off x="777240" y="3316224"/>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3389376"/>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 can now: Use AI to groom a messy raw backlog — clarifying, splitting, merging and de-duplicating items — then prioritise it with MoSCoW and value-versus-effort, keeping the final ordering a human decision.</a:t>
            </a:r>
          </a:p>
        </p:txBody>
      </p:sp>
      <p:sp>
        <p:nvSpPr>
          <p:cNvPr id="17" name="Rectangle 16"/>
          <p:cNvSpPr/>
          <p:nvPr/>
        </p:nvSpPr>
        <p:spPr>
          <a:xfrm>
            <a:off x="777240" y="4803648"/>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876800"/>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 can now: Use AI to propose a sprint goal and candidate sprint backlog from the team's capacity, get relative estimates with their assumptions surfaced, and draft a multi-sprint roadmap and release plan — with the team owning every commitment.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AI for Sprints, Standups and Delivery</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Summarising stand-ups and tracking progress · Identifying risks, blockers and dependencies with AI · Assisting documentation and communication · Supporting quality, testing and delivery</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COVERAGE 25%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Key Concepts — AI for Sprints, Standups and Delivery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Summarising stand-ups — the AI turns raw daily-stand-up notes into a clear summary of what was done, what is planned and what is blocked, so the team and stakeholders get a consistent update without extra writing.</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Tracking progress — from stand-up notes and board status, the AI helps describe sprint progress against the goal, highlight what has moved and what is stuck, and draft a plain-language burndown narrative.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Surfacing risks and blockers — the AI reads the team's notes and backlog and flags likely risks, blockers and impediments early, so the Scrum Master can act before they derail the sprint.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Mapping dependencies — the AI identifies dependencies between stories, teams and external parties, and helps sequence work so blocked items are unblocked in the right order.</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Mitigation and escalation — for each risk or blocker the AI suggests mitigation options and a clear escalation path, which the Scrum Master reviews and turns into real actions and owners.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Assisting documentation — the AI drafts the routine sprint documentation (definition of done notes, decision logs, release notes, meeting minutes) so it is written consistently and kept up to date with far less effort.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COVERAGE 25%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AI for Sprints, Standups and Delivery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Assisting communication — the AI tailors the same update for different audiences — a technical note for the team, a plain summary for stakeholders, a short message for leadership — keeping tone and detail appropriate to each.</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Supporting quality and testing — the AI drafts test scenarios and checklists from acceptance criteria, suggests edge cases, and helps review whether a story truly meets its definition of done.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9</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Human judgement in delivery — the AI drafts and flags, but the Scrum Master and team validate every risk, dependency and test; the AI widens what you notice, it does not replace the team's call.</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Hands-On Labs — AI for Sprints, Standups and Delivery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7</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Summarise Stand-ups and Track Sprint Progress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8</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Identify Risks, Blockers and Dependencies with AI</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9</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Assist Documentation, Communication and Testing</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Summarise Stand-ups and Track Sprint Progress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7</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300" b="0">
                <a:solidFill>
                  <a:srgbClr val="161B26"/>
                </a:solidFill>
                <a:latin typeface="Arial"/>
              </a:rPr>
              <a:t>Once the sprint is running, a lot of the Scrum Master's time goes into writing updates. In this lab you hand that drafting to an assistant. You take the supplied raw daily stand-up notes for Tempo 2.0 — terse, messy, in everyone's own words — and prompt the AI to turn them into a clean summary of what was done, what is planned and what is blocked. You then track progress against the sprint goal: you ask the AI to describe what has moved and what is stuck, and to write a plain-language burndown narrative from the remaining work. You review every summary against what you actually know, because the AI can only work from the notes it is given. BUILDING BLOCK — what you create in this lab becomes a section of your Tempo 2.0 Agile AI Playbook, the connected project you assemble across all 12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400" b="1">
                <a:solidFill>
                  <a:srgbClr val="161B26"/>
                </a:solidFill>
                <a:latin typeface="Arial"/>
              </a:rPr>
              <a:t>A clean daily stand-up summary generated from raw notes, a progress-against-goal update, and a plain-language burndown narrative for the Tempo 2.0 sprint — all reviewed and saved as the tracking section of your playbook.</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Any assistant, the stand-up-summary template from your prompt library, the raw stand-up notes, progress-against-goal tracking, a burndown narrative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Summarise Stand-ups and Track Sprint Progress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2377440"/>
          </a:xfrm>
          <a:prstGeom prst="rect">
            <a:avLst/>
          </a:prstGeom>
          <a:noFill/>
        </p:spPr>
        <p:txBody>
          <a:bodyPr wrap="square" anchor="ctr">
            <a:spAutoFit/>
          </a:bodyPr>
          <a:lstStyle/>
          <a:p>
            <a:pPr algn="l">
              <a:spcAft>
                <a:spcPts val="400"/>
              </a:spcAft>
            </a:pPr>
            <a:r>
              <a:rPr sz="2600" b="0">
                <a:solidFill>
                  <a:srgbClr val="161B26"/>
                </a:solidFill>
                <a:latin typeface="Arial"/>
              </a:rPr>
              <a:t>Open the supplied raw daily stand-up notes for the Tempo 2.0 sprint (labs/reference-pack/) — several days of terse, informal updates from the team. Grab your stand-up-summary template from your prompt library.</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Summarise Stand-ups and Track Sprint Progress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48840"/>
            <a:ext cx="9235440" cy="1371600"/>
          </a:xfrm>
          <a:prstGeom prst="rect">
            <a:avLst/>
          </a:prstGeom>
          <a:noFill/>
        </p:spPr>
        <p:txBody>
          <a:bodyPr wrap="square" anchor="t">
            <a:spAutoFit/>
          </a:bodyPr>
          <a:lstStyle/>
          <a:p>
            <a:pPr algn="l">
              <a:spcAft>
                <a:spcPts val="400"/>
              </a:spcAft>
            </a:pPr>
            <a:r>
              <a:rPr sz="2300" b="0">
                <a:solidFill>
                  <a:srgbClr val="161B26"/>
                </a:solidFill>
                <a:latin typeface="Arial"/>
              </a:rPr>
              <a:t>Summarise one day's stand-up. Paste the prompt below with a single day's raw notes.</a:t>
            </a:r>
          </a:p>
        </p:txBody>
      </p:sp>
      <p:sp>
        <p:nvSpPr>
          <p:cNvPr id="11" name="TextBox 10"/>
          <p:cNvSpPr txBox="1"/>
          <p:nvPr/>
        </p:nvSpPr>
        <p:spPr>
          <a:xfrm>
            <a:off x="2331720" y="3493008"/>
            <a:ext cx="9144000" cy="274320"/>
          </a:xfrm>
          <a:prstGeom prst="rect">
            <a:avLst/>
          </a:prstGeom>
          <a:noFill/>
        </p:spPr>
        <p:txBody>
          <a:bodyPr wrap="square" anchor="t">
            <a:spAutoFit/>
          </a:bodyPr>
          <a:lstStyle/>
          <a:p>
            <a:pPr algn="l">
              <a:spcAft>
                <a:spcPts val="400"/>
              </a:spcAft>
            </a:pPr>
            <a:r>
              <a:rPr sz="1200" b="1">
                <a:solidFill>
                  <a:srgbClr val="1F6FEB"/>
                </a:solidFill>
                <a:latin typeface="Arial"/>
              </a:rPr>
              <a:t>PROMPT — paste into ChatGPT, Claude or Gemini</a:t>
            </a:r>
          </a:p>
        </p:txBody>
      </p:sp>
      <p:sp>
        <p:nvSpPr>
          <p:cNvPr id="12" name="Rectangle 11"/>
          <p:cNvSpPr/>
          <p:nvPr/>
        </p:nvSpPr>
        <p:spPr>
          <a:xfrm>
            <a:off x="2331720" y="3767328"/>
            <a:ext cx="9235440" cy="130149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3886200"/>
            <a:ext cx="8686800" cy="1063752"/>
          </a:xfrm>
          <a:prstGeom prst="rect">
            <a:avLst/>
          </a:prstGeom>
          <a:noFill/>
        </p:spPr>
        <p:txBody>
          <a:bodyPr wrap="square" anchor="t">
            <a:spAutoFit/>
          </a:bodyPr>
          <a:lstStyle/>
          <a:p>
            <a:pPr algn="l">
              <a:spcAft>
                <a:spcPts val="200"/>
              </a:spcAft>
            </a:pPr>
            <a:r>
              <a:rPr sz="1300" b="0">
                <a:solidFill>
                  <a:srgbClr val="9CDCFE"/>
                </a:solidFill>
                <a:latin typeface="Arial"/>
              </a:rPr>
              <a:t>You are a Scrum Master assistant. Here are today's raw daily stand-up notes for our Tempo 2.0 sprint:</a:t>
            </a:r>
          </a:p>
          <a:p>
            <a:pPr algn="l">
              <a:spcAft>
                <a:spcPts val="200"/>
              </a:spcAft>
            </a:pPr>
            <a:r>
              <a:rPr sz="1300" b="0">
                <a:solidFill>
                  <a:srgbClr val="9CDCFE"/>
                </a:solidFill>
                <a:latin typeface="Arial"/>
              </a:rPr>
              <a:t>&lt;PASTE ONE DAY'S RAW NOTES&gt;</a:t>
            </a:r>
          </a:p>
          <a:p>
            <a:pPr algn="l">
              <a:spcAft>
                <a:spcPts val="200"/>
              </a:spcAft>
            </a:pPr>
            <a:r>
              <a:rPr sz="1300" b="0">
                <a:solidFill>
                  <a:srgbClr val="9CDCFE"/>
                </a:solidFill>
                <a:latin typeface="Arial"/>
              </a:rPr>
              <a:t>Task: summarise them clearly under three headings — Done since yesterday, Planned today, Blockers. Format: short bullet points. Constraints: use only what the notes say, keep each person's items attributed, and list any blocker separately so nothing is buried.</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Summarise Stand-ups and Track Sprint Progress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94560"/>
            <a:ext cx="9235440" cy="2377440"/>
          </a:xfrm>
          <a:prstGeom prst="rect">
            <a:avLst/>
          </a:prstGeom>
          <a:noFill/>
        </p:spPr>
        <p:txBody>
          <a:bodyPr wrap="square" anchor="ctr">
            <a:spAutoFit/>
          </a:bodyPr>
          <a:lstStyle/>
          <a:p>
            <a:pPr algn="l">
              <a:spcAft>
                <a:spcPts val="400"/>
              </a:spcAft>
            </a:pPr>
            <a:r>
              <a:rPr sz="2600" b="0">
                <a:solidFill>
                  <a:srgbClr val="161B26"/>
                </a:solidFill>
                <a:latin typeface="Arial"/>
              </a:rPr>
              <a:t>Review the summary against reality. Check it captured every blocker and did not invent progress. If a note was ambiguous, decide what it really meant — the AI cannot know, you can.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Summarise Stand-ups and Track Sprint Progress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48840"/>
            <a:ext cx="9235440" cy="1371600"/>
          </a:xfrm>
          <a:prstGeom prst="rect">
            <a:avLst/>
          </a:prstGeom>
          <a:noFill/>
        </p:spPr>
        <p:txBody>
          <a:bodyPr wrap="square" anchor="t">
            <a:spAutoFit/>
          </a:bodyPr>
          <a:lstStyle/>
          <a:p>
            <a:pPr algn="l">
              <a:spcAft>
                <a:spcPts val="400"/>
              </a:spcAft>
            </a:pPr>
            <a:r>
              <a:rPr sz="2300" b="0">
                <a:solidFill>
                  <a:srgbClr val="161B26"/>
                </a:solidFill>
                <a:latin typeface="Arial"/>
              </a:rPr>
              <a:t>Track progress against the sprint goal. Feed several days of notes and the sprint goal together with the prompt below.</a:t>
            </a:r>
          </a:p>
        </p:txBody>
      </p:sp>
      <p:sp>
        <p:nvSpPr>
          <p:cNvPr id="11" name="TextBox 10"/>
          <p:cNvSpPr txBox="1"/>
          <p:nvPr/>
        </p:nvSpPr>
        <p:spPr>
          <a:xfrm>
            <a:off x="2331720" y="3493008"/>
            <a:ext cx="9144000" cy="274320"/>
          </a:xfrm>
          <a:prstGeom prst="rect">
            <a:avLst/>
          </a:prstGeom>
          <a:noFill/>
        </p:spPr>
        <p:txBody>
          <a:bodyPr wrap="square" anchor="t">
            <a:spAutoFit/>
          </a:bodyPr>
          <a:lstStyle/>
          <a:p>
            <a:pPr algn="l">
              <a:spcAft>
                <a:spcPts val="400"/>
              </a:spcAft>
            </a:pPr>
            <a:r>
              <a:rPr sz="1200" b="1">
                <a:solidFill>
                  <a:srgbClr val="1F6FEB"/>
                </a:solidFill>
                <a:latin typeface="Arial"/>
              </a:rPr>
              <a:t>PROMPT — paste into ChatGPT, Claude or Gemini</a:t>
            </a:r>
          </a:p>
        </p:txBody>
      </p:sp>
      <p:sp>
        <p:nvSpPr>
          <p:cNvPr id="12" name="Rectangle 11"/>
          <p:cNvSpPr/>
          <p:nvPr/>
        </p:nvSpPr>
        <p:spPr>
          <a:xfrm>
            <a:off x="2331720" y="3767328"/>
            <a:ext cx="9235440" cy="169773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3886200"/>
            <a:ext cx="8686800" cy="1459992"/>
          </a:xfrm>
          <a:prstGeom prst="rect">
            <a:avLst/>
          </a:prstGeom>
          <a:noFill/>
        </p:spPr>
        <p:txBody>
          <a:bodyPr wrap="square" anchor="t">
            <a:spAutoFit/>
          </a:bodyPr>
          <a:lstStyle/>
          <a:p>
            <a:pPr algn="l">
              <a:spcAft>
                <a:spcPts val="200"/>
              </a:spcAft>
            </a:pPr>
            <a:r>
              <a:rPr sz="1300" b="0">
                <a:solidFill>
                  <a:srgbClr val="9CDCFE"/>
                </a:solidFill>
                <a:latin typeface="Arial"/>
              </a:rPr>
              <a:t>Here is our Sprint 1 goal:</a:t>
            </a:r>
          </a:p>
          <a:p>
            <a:pPr algn="l">
              <a:spcAft>
                <a:spcPts val="200"/>
              </a:spcAft>
            </a:pPr>
            <a:r>
              <a:rPr sz="1300" b="0">
                <a:solidFill>
                  <a:srgbClr val="9CDCFE"/>
                </a:solidFill>
                <a:latin typeface="Arial"/>
              </a:rPr>
              <a:t>&lt;PASTE THE SPRINT GOAL&gt;</a:t>
            </a:r>
          </a:p>
          <a:p>
            <a:pPr algn="l">
              <a:spcAft>
                <a:spcPts val="200"/>
              </a:spcAft>
            </a:pPr>
            <a:r>
              <a:rPr sz="1300" b="0">
                <a:solidFill>
                  <a:srgbClr val="9CDCFE"/>
                </a:solidFill>
                <a:latin typeface="Arial"/>
              </a:rPr>
              <a:t>and here are the stand-up summaries for the last few days:</a:t>
            </a:r>
          </a:p>
          <a:p>
            <a:pPr algn="l">
              <a:spcAft>
                <a:spcPts val="200"/>
              </a:spcAft>
            </a:pPr>
            <a:r>
              <a:rPr sz="1300" b="0">
                <a:solidFill>
                  <a:srgbClr val="9CDCFE"/>
                </a:solidFill>
                <a:latin typeface="Arial"/>
              </a:rPr>
              <a:t>&lt;PASTE THE DAILY SUMMARIES&gt;</a:t>
            </a:r>
          </a:p>
          <a:p>
            <a:pPr algn="l">
              <a:spcAft>
                <a:spcPts val="200"/>
              </a:spcAft>
            </a:pPr>
            <a:r>
              <a:rPr sz="1300" b="0">
                <a:solidFill>
                  <a:srgbClr val="9CDCFE"/>
                </a:solidFill>
                <a:latin typeface="Arial"/>
              </a:rPr>
              <a:t>Task: describe our progress toward the sprint goal — what has clearly moved forward, what is stuck, and whether the goal still looks achievable this sprint. Be honest and specific; do not sugar-coat. Flag anything that looks at risk.</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Summarise Stand-ups and Track Sprint Progress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48840"/>
            <a:ext cx="9235440" cy="1371600"/>
          </a:xfrm>
          <a:prstGeom prst="rect">
            <a:avLst/>
          </a:prstGeom>
          <a:noFill/>
        </p:spPr>
        <p:txBody>
          <a:bodyPr wrap="square" anchor="t">
            <a:spAutoFit/>
          </a:bodyPr>
          <a:lstStyle/>
          <a:p>
            <a:pPr algn="l">
              <a:spcAft>
                <a:spcPts val="400"/>
              </a:spcAft>
            </a:pPr>
            <a:r>
              <a:rPr sz="2300" b="0">
                <a:solidFill>
                  <a:srgbClr val="161B26"/>
                </a:solidFill>
                <a:latin typeface="Arial"/>
              </a:rPr>
              <a:t>Draft a burndown narrative. Ask the AI to describe the remaining work in plain language, using the prompt below.</a:t>
            </a:r>
          </a:p>
        </p:txBody>
      </p:sp>
      <p:sp>
        <p:nvSpPr>
          <p:cNvPr id="11" name="TextBox 10"/>
          <p:cNvSpPr txBox="1"/>
          <p:nvPr/>
        </p:nvSpPr>
        <p:spPr>
          <a:xfrm>
            <a:off x="2331720" y="3493008"/>
            <a:ext cx="9144000" cy="274320"/>
          </a:xfrm>
          <a:prstGeom prst="rect">
            <a:avLst/>
          </a:prstGeom>
          <a:noFill/>
        </p:spPr>
        <p:txBody>
          <a:bodyPr wrap="square" anchor="t">
            <a:spAutoFit/>
          </a:bodyPr>
          <a:lstStyle/>
          <a:p>
            <a:pPr algn="l">
              <a:spcAft>
                <a:spcPts val="400"/>
              </a:spcAft>
            </a:pPr>
            <a:r>
              <a:rPr sz="1200" b="1">
                <a:solidFill>
                  <a:srgbClr val="1F6FEB"/>
                </a:solidFill>
                <a:latin typeface="Arial"/>
              </a:rPr>
              <a:t>PROMPT — paste into ChatGPT, Claude or Gemini</a:t>
            </a:r>
          </a:p>
        </p:txBody>
      </p:sp>
      <p:sp>
        <p:nvSpPr>
          <p:cNvPr id="12" name="Rectangle 11"/>
          <p:cNvSpPr/>
          <p:nvPr/>
        </p:nvSpPr>
        <p:spPr>
          <a:xfrm>
            <a:off x="2331720" y="3767328"/>
            <a:ext cx="9235440" cy="11033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3886200"/>
            <a:ext cx="8686800" cy="865632"/>
          </a:xfrm>
          <a:prstGeom prst="rect">
            <a:avLst/>
          </a:prstGeom>
          <a:noFill/>
        </p:spPr>
        <p:txBody>
          <a:bodyPr wrap="square" anchor="t">
            <a:spAutoFit/>
          </a:bodyPr>
          <a:lstStyle/>
          <a:p>
            <a:pPr algn="l">
              <a:spcAft>
                <a:spcPts val="200"/>
              </a:spcAft>
            </a:pPr>
            <a:r>
              <a:rPr sz="1300" b="0">
                <a:solidFill>
                  <a:srgbClr val="9CDCFE"/>
                </a:solidFill>
                <a:latin typeface="Arial"/>
              </a:rPr>
              <a:t>Given that the sprint started with &lt;TOTAL STORY POINTS&gt; points and roughly &lt;REMAINING POINTS&gt; remain with &lt;DAYS LEFT&gt; days left, write a short plain-language 'burndown' narrative a non-technical stakeholder could understand: are we ahead, on track or behind, and what would need to happen to finish on plan? State the assumption behind your read.</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Summarise Stand-ups and Track Sprint Progress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2377440"/>
          </a:xfrm>
          <a:prstGeom prst="rect">
            <a:avLst/>
          </a:prstGeom>
          <a:noFill/>
        </p:spPr>
        <p:txBody>
          <a:bodyPr wrap="square" anchor="ctr">
            <a:spAutoFit/>
          </a:bodyPr>
          <a:lstStyle/>
          <a:p>
            <a:pPr algn="l">
              <a:spcAft>
                <a:spcPts val="400"/>
              </a:spcAft>
            </a:pPr>
            <a:r>
              <a:rPr sz="2600" b="0">
                <a:solidFill>
                  <a:srgbClr val="161B26"/>
                </a:solidFill>
                <a:latin typeface="Arial"/>
              </a:rPr>
              <a:t>Apply your judgement. Compare the AI's 'on track / behind' read with your own sense of the sprint. Where they differ, write the truer version yourself. A burndown narrative is only useful if it is honest.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Summarise Stand-ups and Track Sprint Progress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2377440"/>
          </a:xfrm>
          <a:prstGeom prst="rect">
            <a:avLst/>
          </a:prstGeom>
          <a:noFill/>
        </p:spPr>
        <p:txBody>
          <a:bodyPr wrap="square" anchor="ctr">
            <a:spAutoFit/>
          </a:bodyPr>
          <a:lstStyle/>
          <a:p>
            <a:pPr algn="l">
              <a:spcAft>
                <a:spcPts val="400"/>
              </a:spcAft>
            </a:pPr>
            <a:r>
              <a:rPr sz="2600" b="0">
                <a:solidFill>
                  <a:srgbClr val="161B26"/>
                </a:solidFill>
                <a:latin typeface="Arial"/>
              </a:rPr>
              <a:t>Save the tracking section of your playbook: the daily stand-up summary, the progress-against-goal update and the reviewed burndown narrative, in your Tempo-2.0-Playbook folder.</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Summarise Stand-ups and Track Sprint Progress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turned raw stand-up notes into a clean, attributed summary under Done/Planned/Blockers, produced an honest progress-against-goal update and a plain-language burndown narrative for the Tempo 2.0 sprint, and reviewed each against what you actually know — all saved to your playbook.</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Identify Risks, Blockers and Dependencies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8</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300" b="0">
                <a:solidFill>
                  <a:srgbClr val="161B26"/>
                </a:solidFill>
                <a:latin typeface="Arial"/>
              </a:rPr>
              <a:t>A big part of the Scrum Master's value is seeing trouble early. In this lab you use an assistant to widen what you notice. You give the AI the sprint's stand-up notes, backlog and plan, and prompt it to flag likely risks, blockers and impediments — including ones the team has not named yet. You ask it to map dependencies between stories, between the team and other teams, and on external parties, and to suggest a sequence that unblocks work in the right order. For each risk or blocker it drafts mitigation options and a clear escalation path. You then review every item — the AI can over- or under-state risk — and turn the real ones into a risk log with owners and actions. BUILDING BLOCK — what you create in this lab becomes a section of your Tempo 2.0 Agile AI Playbook, the connected project you assemble across all 12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300" b="1">
                <a:solidFill>
                  <a:srgbClr val="161B26"/>
                </a:solidFill>
                <a:latin typeface="Arial"/>
              </a:rPr>
              <a:t>A reviewed Tempo 2.0 risk, blocker and dependency log — likely risks and impediments surfaced from the notes, a dependency map with a suggested unblocking sequence, and a mitigation and escalation path with an owner for each real item.</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Any assistant, the sprint notes and backlog, risk and blocker identification, dependency mapping, mitigation and escalation planning, a Scrum-Master review</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Identify Risks, Blockers and Dependencies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2377440"/>
          </a:xfrm>
          <a:prstGeom prst="rect">
            <a:avLst/>
          </a:prstGeom>
          <a:noFill/>
        </p:spPr>
        <p:txBody>
          <a:bodyPr wrap="square" anchor="ctr">
            <a:spAutoFit/>
          </a:bodyPr>
          <a:lstStyle/>
          <a:p>
            <a:pPr algn="l">
              <a:spcAft>
                <a:spcPts val="400"/>
              </a:spcAft>
            </a:pPr>
            <a:r>
              <a:rPr sz="2600" b="0">
                <a:solidFill>
                  <a:srgbClr val="161B26"/>
                </a:solidFill>
                <a:latin typeface="Arial"/>
              </a:rPr>
              <a:t>Gather the evidence: your stand-up summaries and burndown from Lab 7, your sprint plan from Lab 6, and the backlog. Paste the relevant parts into any assistant.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Identify Risks, Blockers and Dependencies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48840"/>
            <a:ext cx="9235440" cy="1371600"/>
          </a:xfrm>
          <a:prstGeom prst="rect">
            <a:avLst/>
          </a:prstGeom>
          <a:noFill/>
        </p:spPr>
        <p:txBody>
          <a:bodyPr wrap="square" anchor="t">
            <a:spAutoFit/>
          </a:bodyPr>
          <a:lstStyle/>
          <a:p>
            <a:pPr algn="l">
              <a:spcAft>
                <a:spcPts val="400"/>
              </a:spcAft>
            </a:pPr>
            <a:r>
              <a:rPr sz="2300" b="0">
                <a:solidFill>
                  <a:srgbClr val="161B26"/>
                </a:solidFill>
                <a:latin typeface="Arial"/>
              </a:rPr>
              <a:t>Surface risks and blockers. Use the prompt below to have the AI flag trouble early.</a:t>
            </a:r>
          </a:p>
        </p:txBody>
      </p:sp>
      <p:sp>
        <p:nvSpPr>
          <p:cNvPr id="11" name="TextBox 10"/>
          <p:cNvSpPr txBox="1"/>
          <p:nvPr/>
        </p:nvSpPr>
        <p:spPr>
          <a:xfrm>
            <a:off x="2331720" y="3493008"/>
            <a:ext cx="9144000" cy="274320"/>
          </a:xfrm>
          <a:prstGeom prst="rect">
            <a:avLst/>
          </a:prstGeom>
          <a:noFill/>
        </p:spPr>
        <p:txBody>
          <a:bodyPr wrap="square" anchor="t">
            <a:spAutoFit/>
          </a:bodyPr>
          <a:lstStyle/>
          <a:p>
            <a:pPr algn="l">
              <a:spcAft>
                <a:spcPts val="400"/>
              </a:spcAft>
            </a:pPr>
            <a:r>
              <a:rPr sz="1200" b="1">
                <a:solidFill>
                  <a:srgbClr val="1F6FEB"/>
                </a:solidFill>
                <a:latin typeface="Arial"/>
              </a:rPr>
              <a:t>PROMPT — paste into ChatGPT, Claude or Gemini</a:t>
            </a:r>
          </a:p>
        </p:txBody>
      </p:sp>
      <p:sp>
        <p:nvSpPr>
          <p:cNvPr id="12" name="Rectangle 11"/>
          <p:cNvSpPr/>
          <p:nvPr/>
        </p:nvSpPr>
        <p:spPr>
          <a:xfrm>
            <a:off x="2331720" y="3767328"/>
            <a:ext cx="9235440" cy="130149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3886200"/>
            <a:ext cx="8686800" cy="1063752"/>
          </a:xfrm>
          <a:prstGeom prst="rect">
            <a:avLst/>
          </a:prstGeom>
          <a:noFill/>
        </p:spPr>
        <p:txBody>
          <a:bodyPr wrap="square" anchor="t">
            <a:spAutoFit/>
          </a:bodyPr>
          <a:lstStyle/>
          <a:p>
            <a:pPr algn="l">
              <a:spcAft>
                <a:spcPts val="200"/>
              </a:spcAft>
            </a:pPr>
            <a:r>
              <a:rPr sz="1300" b="0">
                <a:solidFill>
                  <a:srgbClr val="9CDCFE"/>
                </a:solidFill>
                <a:latin typeface="Arial"/>
              </a:rPr>
              <a:t>You are an experienced Scrum Master. Based on this Tempo 2.0 sprint information:</a:t>
            </a:r>
          </a:p>
          <a:p>
            <a:pPr algn="l">
              <a:spcAft>
                <a:spcPts val="200"/>
              </a:spcAft>
            </a:pPr>
            <a:r>
              <a:rPr sz="1300" b="0">
                <a:solidFill>
                  <a:srgbClr val="9CDCFE"/>
                </a:solidFill>
                <a:latin typeface="Arial"/>
              </a:rPr>
              <a:t>&lt;PASTE STAND-UP SUMMARIES, PLAN AND BACKLOG&gt;</a:t>
            </a:r>
          </a:p>
          <a:p>
            <a:pPr algn="l">
              <a:spcAft>
                <a:spcPts val="200"/>
              </a:spcAft>
            </a:pPr>
            <a:r>
              <a:rPr sz="1300" b="0">
                <a:solidFill>
                  <a:srgbClr val="9CDCFE"/>
                </a:solidFill>
                <a:latin typeface="Arial"/>
              </a:rPr>
              <a:t>Task: identify the likely risks, blockers and impediments to finishing this sprint — including ones the team has not explicitly named. Format: a table with Risk/Blocker | Why it matters | Likelihood (H/M/L) | Impact (H/M/L). Be specific to this sprint; do not list generic project risks.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Identify Risks, Blockers and Dependencies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48840"/>
            <a:ext cx="9235440" cy="1371600"/>
          </a:xfrm>
          <a:prstGeom prst="rect">
            <a:avLst/>
          </a:prstGeom>
          <a:noFill/>
        </p:spPr>
        <p:txBody>
          <a:bodyPr wrap="square" anchor="t">
            <a:spAutoFit/>
          </a:bodyPr>
          <a:lstStyle/>
          <a:p>
            <a:pPr algn="l">
              <a:spcAft>
                <a:spcPts val="400"/>
              </a:spcAft>
            </a:pPr>
            <a:r>
              <a:rPr sz="2300" b="0">
                <a:solidFill>
                  <a:srgbClr val="161B26"/>
                </a:solidFill>
                <a:latin typeface="Arial"/>
              </a:rPr>
              <a:t>Map dependencies. Ask the AI to make the dependencies explicit with the prompt below.</a:t>
            </a:r>
          </a:p>
        </p:txBody>
      </p:sp>
      <p:sp>
        <p:nvSpPr>
          <p:cNvPr id="11" name="TextBox 10"/>
          <p:cNvSpPr txBox="1"/>
          <p:nvPr/>
        </p:nvSpPr>
        <p:spPr>
          <a:xfrm>
            <a:off x="2331720" y="3493008"/>
            <a:ext cx="9144000" cy="274320"/>
          </a:xfrm>
          <a:prstGeom prst="rect">
            <a:avLst/>
          </a:prstGeom>
          <a:noFill/>
        </p:spPr>
        <p:txBody>
          <a:bodyPr wrap="square" anchor="t">
            <a:spAutoFit/>
          </a:bodyPr>
          <a:lstStyle/>
          <a:p>
            <a:pPr algn="l">
              <a:spcAft>
                <a:spcPts val="400"/>
              </a:spcAft>
            </a:pPr>
            <a:r>
              <a:rPr sz="1200" b="1">
                <a:solidFill>
                  <a:srgbClr val="1F6FEB"/>
                </a:solidFill>
                <a:latin typeface="Arial"/>
              </a:rPr>
              <a:t>PROMPT — paste into ChatGPT, Claude or Gemini</a:t>
            </a:r>
          </a:p>
        </p:txBody>
      </p:sp>
      <p:sp>
        <p:nvSpPr>
          <p:cNvPr id="12" name="Rectangle 11"/>
          <p:cNvSpPr/>
          <p:nvPr/>
        </p:nvSpPr>
        <p:spPr>
          <a:xfrm>
            <a:off x="2331720" y="3767328"/>
            <a:ext cx="9235440" cy="130149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3886200"/>
            <a:ext cx="8686800" cy="1063752"/>
          </a:xfrm>
          <a:prstGeom prst="rect">
            <a:avLst/>
          </a:prstGeom>
          <a:noFill/>
        </p:spPr>
        <p:txBody>
          <a:bodyPr wrap="square" anchor="t">
            <a:spAutoFit/>
          </a:bodyPr>
          <a:lstStyle/>
          <a:p>
            <a:pPr algn="l">
              <a:spcAft>
                <a:spcPts val="200"/>
              </a:spcAft>
            </a:pPr>
            <a:r>
              <a:rPr sz="1300" b="0">
                <a:solidFill>
                  <a:srgbClr val="9CDCFE"/>
                </a:solidFill>
                <a:latin typeface="Arial"/>
              </a:rPr>
              <a:t>From the same sprint information, map the dependencies: which stories or tasks depend on another being done first, which depend on another team or an external party (for example an app-store review, a third-party reminder/push service, or a design sign-off), and where a dependency could block the sprint goal. Present as a list of 'A depends on B because…' statements, then suggest an order of work that unblocks things in the right sequence.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Identify Risks, Blockers and Dependencies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94560"/>
            <a:ext cx="9235440" cy="2377440"/>
          </a:xfrm>
          <a:prstGeom prst="rect">
            <a:avLst/>
          </a:prstGeom>
          <a:noFill/>
        </p:spPr>
        <p:txBody>
          <a:bodyPr wrap="square" anchor="ctr">
            <a:spAutoFit/>
          </a:bodyPr>
          <a:lstStyle/>
          <a:p>
            <a:pPr algn="l">
              <a:spcAft>
                <a:spcPts val="400"/>
              </a:spcAft>
            </a:pPr>
            <a:r>
              <a:rPr sz="2600" b="0">
                <a:solidFill>
                  <a:srgbClr val="161B26"/>
                </a:solidFill>
                <a:latin typeface="Arial"/>
              </a:rPr>
              <a:t>Sanity-check the AI's read. Go through its risks and dependencies and mark each as real, over-stated or missed. Add at least one risk or dependency you know about from context that the AI did not surface. The AI widens your view; it does not replace it.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Identify Risks, Blockers and Dependencies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48840"/>
            <a:ext cx="9235440" cy="1371600"/>
          </a:xfrm>
          <a:prstGeom prst="rect">
            <a:avLst/>
          </a:prstGeom>
          <a:noFill/>
        </p:spPr>
        <p:txBody>
          <a:bodyPr wrap="square" anchor="t">
            <a:spAutoFit/>
          </a:bodyPr>
          <a:lstStyle/>
          <a:p>
            <a:pPr algn="l">
              <a:spcAft>
                <a:spcPts val="400"/>
              </a:spcAft>
            </a:pPr>
            <a:r>
              <a:rPr sz="2300" b="0">
                <a:solidFill>
                  <a:srgbClr val="161B26"/>
                </a:solidFill>
                <a:latin typeface="Arial"/>
              </a:rPr>
              <a:t>Plan mitigations and escalations. For the real risks and blockers, generate options with the prompt below.</a:t>
            </a:r>
          </a:p>
        </p:txBody>
      </p:sp>
      <p:sp>
        <p:nvSpPr>
          <p:cNvPr id="11" name="TextBox 10"/>
          <p:cNvSpPr txBox="1"/>
          <p:nvPr/>
        </p:nvSpPr>
        <p:spPr>
          <a:xfrm>
            <a:off x="2331720" y="3493008"/>
            <a:ext cx="9144000" cy="274320"/>
          </a:xfrm>
          <a:prstGeom prst="rect">
            <a:avLst/>
          </a:prstGeom>
          <a:noFill/>
        </p:spPr>
        <p:txBody>
          <a:bodyPr wrap="square" anchor="t">
            <a:spAutoFit/>
          </a:bodyPr>
          <a:lstStyle/>
          <a:p>
            <a:pPr algn="l">
              <a:spcAft>
                <a:spcPts val="400"/>
              </a:spcAft>
            </a:pPr>
            <a:r>
              <a:rPr sz="1200" b="1">
                <a:solidFill>
                  <a:srgbClr val="1F6FEB"/>
                </a:solidFill>
                <a:latin typeface="Arial"/>
              </a:rPr>
              <a:t>PROMPT — paste into ChatGPT, Claude or Gemini</a:t>
            </a:r>
          </a:p>
        </p:txBody>
      </p:sp>
      <p:sp>
        <p:nvSpPr>
          <p:cNvPr id="12" name="Rectangle 11"/>
          <p:cNvSpPr/>
          <p:nvPr/>
        </p:nvSpPr>
        <p:spPr>
          <a:xfrm>
            <a:off x="2331720" y="3767328"/>
            <a:ext cx="9235440" cy="11033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3886200"/>
            <a:ext cx="8686800" cy="865632"/>
          </a:xfrm>
          <a:prstGeom prst="rect">
            <a:avLst/>
          </a:prstGeom>
          <a:noFill/>
        </p:spPr>
        <p:txBody>
          <a:bodyPr wrap="square" anchor="t">
            <a:spAutoFit/>
          </a:bodyPr>
          <a:lstStyle/>
          <a:p>
            <a:pPr algn="l">
              <a:spcAft>
                <a:spcPts val="200"/>
              </a:spcAft>
            </a:pPr>
            <a:r>
              <a:rPr sz="1300" b="0">
                <a:solidFill>
                  <a:srgbClr val="9CDCFE"/>
                </a:solidFill>
                <a:latin typeface="Arial"/>
              </a:rPr>
              <a:t>For each of these confirmed risks and blockers:</a:t>
            </a:r>
          </a:p>
          <a:p>
            <a:pPr algn="l">
              <a:spcAft>
                <a:spcPts val="200"/>
              </a:spcAft>
            </a:pPr>
            <a:r>
              <a:rPr sz="1300" b="0">
                <a:solidFill>
                  <a:srgbClr val="9CDCFE"/>
                </a:solidFill>
                <a:latin typeface="Arial"/>
              </a:rPr>
              <a:t>&lt;PASTE THE CONFIRMED LIST&gt;</a:t>
            </a:r>
          </a:p>
          <a:p>
            <a:pPr algn="l">
              <a:spcAft>
                <a:spcPts val="200"/>
              </a:spcAft>
            </a:pPr>
            <a:r>
              <a:rPr sz="1300" b="0">
                <a:solidFill>
                  <a:srgbClr val="9CDCFE"/>
                </a:solidFill>
                <a:latin typeface="Arial"/>
              </a:rPr>
              <a:t>suggest one or two practical mitigation options and a clear escalation path (who to raise it to and when). Format: Risk/Blocker | Mitigation | Escalation. Keep the actions concrete and doable within a sprint.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transition spd="med">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Identify Risks, Blockers and Dependencies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2377440"/>
          </a:xfrm>
          <a:prstGeom prst="rect">
            <a:avLst/>
          </a:prstGeom>
          <a:noFill/>
        </p:spPr>
        <p:txBody>
          <a:bodyPr wrap="square" anchor="ctr">
            <a:spAutoFit/>
          </a:bodyPr>
          <a:lstStyle/>
          <a:p>
            <a:pPr algn="l">
              <a:spcAft>
                <a:spcPts val="400"/>
              </a:spcAft>
            </a:pPr>
            <a:r>
              <a:rPr sz="2600" b="0">
                <a:solidFill>
                  <a:srgbClr val="161B26"/>
                </a:solidFill>
                <a:latin typeface="Arial"/>
              </a:rPr>
              <a:t>Assign owners and decide actions. As the Scrum Master, put a named owner and a next action against each real risk and blocker — the AI proposes, you commit. Remove anything that is noise so the log stays trusted and short.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transition spd="med">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Identify Risks, Blockers and Dependencies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2377440"/>
          </a:xfrm>
          <a:prstGeom prst="rect">
            <a:avLst/>
          </a:prstGeom>
          <a:noFill/>
        </p:spPr>
        <p:txBody>
          <a:bodyPr wrap="square" anchor="ctr">
            <a:spAutoFit/>
          </a:bodyPr>
          <a:lstStyle/>
          <a:p>
            <a:pPr algn="l">
              <a:spcAft>
                <a:spcPts val="400"/>
              </a:spcAft>
            </a:pPr>
            <a:r>
              <a:rPr sz="2600" b="0">
                <a:solidFill>
                  <a:srgbClr val="161B26"/>
                </a:solidFill>
                <a:latin typeface="Arial"/>
              </a:rPr>
              <a:t>Save the risk, blocker and dependency log as a section of your Tempo-2.0-Playbook folder: the confirmed items with likelihood/impact, the dependency map and unblocking order, and each item's mitigation, escalation, owner and next action.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transition spd="med">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Identify Risks, Blockers and Dependencies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a reviewed Tempo 2.0 risk, blocker and dependency log — likely items surfaced early, a dependency map with a sensible unblocking order, at least one risk you added from your own knowledge, and a mitigation, escalation, owner and next action for every real item — saved to your playbook.</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Assist Documentation, Communication and Testing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9</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300" b="0">
                <a:solidFill>
                  <a:srgbClr val="161B26"/>
                </a:solidFill>
                <a:latin typeface="Arial"/>
              </a:rPr>
              <a:t>Documentation, communication and testing quietly consume a sprint. In this lab you use an assistant to lift that load across all three. For documentation, you draft release notes, a decision log entry and meeting minutes so they are written consistently and kept current. For communication, you take one sprint update and have the AI re-pitch it for three audiences — the team, stakeholders and leadership — keeping tone and detail right for each. For quality, you turn your Lab 4 acceptance criteria into test scenarios and a checklist, ask the AI to suggest edge cases, and use it to check whether a story truly meets its definition of done. You review everything: the AI drafts, the team decides what 'done' and 'good enough' mean. BUILDING BLOCK — what you create in this lab becomes a section of your Tempo 2.0 Agile AI Playbook, the connected project you assemble across all 12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300" b="1">
                <a:solidFill>
                  <a:srgbClr val="161B26"/>
                </a:solidFill>
                <a:latin typeface="Arial"/>
              </a:rPr>
              <a:t>AI-assisted sprint documentation (release notes, a decision log entry, meeting minutes), one update re-pitched for the team, stakeholders and leadership, and test scenarios plus a definition-of-done check generated from your acceptance criteria — all reviewed and saved.</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Any assistant, documentation drafting, audience-tailored communication, test-scenario generation from acceptance criteria, a definition-of-done check</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Assist Documentation, Communication and Testing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48840"/>
            <a:ext cx="9235440" cy="1371600"/>
          </a:xfrm>
          <a:prstGeom prst="rect">
            <a:avLst/>
          </a:prstGeom>
          <a:noFill/>
        </p:spPr>
        <p:txBody>
          <a:bodyPr wrap="square" anchor="t">
            <a:spAutoFit/>
          </a:bodyPr>
          <a:lstStyle/>
          <a:p>
            <a:pPr algn="l">
              <a:spcAft>
                <a:spcPts val="400"/>
              </a:spcAft>
            </a:pPr>
            <a:r>
              <a:rPr sz="2200" b="0">
                <a:solidFill>
                  <a:srgbClr val="161B26"/>
                </a:solidFill>
                <a:latin typeface="Arial"/>
              </a:rPr>
              <a:t>Draft the routine documentation. Using what the sprint has delivered so far, generate release notes with the prompt below, then repeat the idea for a decision-log entry and short meeting minutes.</a:t>
            </a:r>
          </a:p>
        </p:txBody>
      </p:sp>
      <p:sp>
        <p:nvSpPr>
          <p:cNvPr id="11" name="TextBox 10"/>
          <p:cNvSpPr txBox="1"/>
          <p:nvPr/>
        </p:nvSpPr>
        <p:spPr>
          <a:xfrm>
            <a:off x="2331720" y="3493008"/>
            <a:ext cx="9144000" cy="274320"/>
          </a:xfrm>
          <a:prstGeom prst="rect">
            <a:avLst/>
          </a:prstGeom>
          <a:noFill/>
        </p:spPr>
        <p:txBody>
          <a:bodyPr wrap="square" anchor="t">
            <a:spAutoFit/>
          </a:bodyPr>
          <a:lstStyle/>
          <a:p>
            <a:pPr algn="l">
              <a:spcAft>
                <a:spcPts val="400"/>
              </a:spcAft>
            </a:pPr>
            <a:r>
              <a:rPr sz="1200" b="1">
                <a:solidFill>
                  <a:srgbClr val="1F6FEB"/>
                </a:solidFill>
                <a:latin typeface="Arial"/>
              </a:rPr>
              <a:t>PROMPT — paste into ChatGPT, Claude or Gemini</a:t>
            </a:r>
          </a:p>
        </p:txBody>
      </p:sp>
      <p:sp>
        <p:nvSpPr>
          <p:cNvPr id="12" name="Rectangle 11"/>
          <p:cNvSpPr/>
          <p:nvPr/>
        </p:nvSpPr>
        <p:spPr>
          <a:xfrm>
            <a:off x="2331720" y="3767328"/>
            <a:ext cx="9235440" cy="130149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3886200"/>
            <a:ext cx="8686800" cy="1063752"/>
          </a:xfrm>
          <a:prstGeom prst="rect">
            <a:avLst/>
          </a:prstGeom>
          <a:noFill/>
        </p:spPr>
        <p:txBody>
          <a:bodyPr wrap="square" anchor="t">
            <a:spAutoFit/>
          </a:bodyPr>
          <a:lstStyle/>
          <a:p>
            <a:pPr algn="l">
              <a:spcAft>
                <a:spcPts val="200"/>
              </a:spcAft>
            </a:pPr>
            <a:r>
              <a:rPr sz="1300" b="0">
                <a:solidFill>
                  <a:srgbClr val="9CDCFE"/>
                </a:solidFill>
                <a:latin typeface="Arial"/>
              </a:rPr>
              <a:t>You are a delivery documentation assistant. Based on the work completed in our Tempo 2.0 sprint so far:</a:t>
            </a:r>
          </a:p>
          <a:p>
            <a:pPr algn="l">
              <a:spcAft>
                <a:spcPts val="200"/>
              </a:spcAft>
            </a:pPr>
            <a:r>
              <a:rPr sz="1300" b="0">
                <a:solidFill>
                  <a:srgbClr val="9CDCFE"/>
                </a:solidFill>
                <a:latin typeface="Arial"/>
              </a:rPr>
              <a:t>&lt;PASTE THE COMPLETED ITEMS&gt;</a:t>
            </a:r>
          </a:p>
          <a:p>
            <a:pPr algn="l">
              <a:spcAft>
                <a:spcPts val="200"/>
              </a:spcAft>
            </a:pPr>
            <a:r>
              <a:rPr sz="1300" b="0">
                <a:solidFill>
                  <a:srgbClr val="9CDCFE"/>
                </a:solidFill>
                <a:latin typeface="Arial"/>
              </a:rPr>
              <a:t>Task: write concise release notes under 'New', 'Improved' and 'Fixed'. Then, separately, draft a one-paragraph decision-log entry template and a short meeting-minutes template we can reuse. Constraints: use only the information given, and mark anything uncertain as '[to confirm]' rather than inventing it.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transition spd="med">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Assist Documentation, Communication and Testing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94560"/>
            <a:ext cx="9235440" cy="2377440"/>
          </a:xfrm>
          <a:prstGeom prst="rect">
            <a:avLst/>
          </a:prstGeom>
          <a:noFill/>
        </p:spPr>
        <p:txBody>
          <a:bodyPr wrap="square" anchor="ctr">
            <a:spAutoFit/>
          </a:bodyPr>
          <a:lstStyle/>
          <a:p>
            <a:pPr algn="l">
              <a:spcAft>
                <a:spcPts val="400"/>
              </a:spcAft>
            </a:pPr>
            <a:r>
              <a:rPr sz="2600" b="0">
                <a:solidFill>
                  <a:srgbClr val="161B26"/>
                </a:solidFill>
                <a:latin typeface="Arial"/>
              </a:rPr>
              <a:t>Review the docs for invented detail. Check the release notes claim only what was actually done, and that every '[to confirm]' is a real gap for a human to fill. Correct anything overstated.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Assist Documentation, Communication and Testing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48840"/>
            <a:ext cx="9235440" cy="1371600"/>
          </a:xfrm>
          <a:prstGeom prst="rect">
            <a:avLst/>
          </a:prstGeom>
          <a:noFill/>
        </p:spPr>
        <p:txBody>
          <a:bodyPr wrap="square" anchor="t">
            <a:spAutoFit/>
          </a:bodyPr>
          <a:lstStyle/>
          <a:p>
            <a:pPr algn="l">
              <a:spcAft>
                <a:spcPts val="400"/>
              </a:spcAft>
            </a:pPr>
            <a:r>
              <a:rPr sz="2300" b="0">
                <a:solidFill>
                  <a:srgbClr val="161B26"/>
                </a:solidFill>
                <a:latin typeface="Arial"/>
              </a:rPr>
              <a:t>Tailor communication for three audiences. Take one progress update and re-pitch it with the prompt below.</a:t>
            </a:r>
          </a:p>
        </p:txBody>
      </p:sp>
      <p:sp>
        <p:nvSpPr>
          <p:cNvPr id="11" name="TextBox 10"/>
          <p:cNvSpPr txBox="1"/>
          <p:nvPr/>
        </p:nvSpPr>
        <p:spPr>
          <a:xfrm>
            <a:off x="2331720" y="3493008"/>
            <a:ext cx="9144000" cy="274320"/>
          </a:xfrm>
          <a:prstGeom prst="rect">
            <a:avLst/>
          </a:prstGeom>
          <a:noFill/>
        </p:spPr>
        <p:txBody>
          <a:bodyPr wrap="square" anchor="t">
            <a:spAutoFit/>
          </a:bodyPr>
          <a:lstStyle/>
          <a:p>
            <a:pPr algn="l">
              <a:spcAft>
                <a:spcPts val="400"/>
              </a:spcAft>
            </a:pPr>
            <a:r>
              <a:rPr sz="1200" b="1">
                <a:solidFill>
                  <a:srgbClr val="1F6FEB"/>
                </a:solidFill>
                <a:latin typeface="Arial"/>
              </a:rPr>
              <a:t>PROMPT — paste into ChatGPT, Claude or Gemini</a:t>
            </a:r>
          </a:p>
        </p:txBody>
      </p:sp>
      <p:sp>
        <p:nvSpPr>
          <p:cNvPr id="12" name="Rectangle 11"/>
          <p:cNvSpPr/>
          <p:nvPr/>
        </p:nvSpPr>
        <p:spPr>
          <a:xfrm>
            <a:off x="2331720" y="3767328"/>
            <a:ext cx="9235440" cy="130149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3886200"/>
            <a:ext cx="8686800" cy="1063752"/>
          </a:xfrm>
          <a:prstGeom prst="rect">
            <a:avLst/>
          </a:prstGeom>
          <a:noFill/>
        </p:spPr>
        <p:txBody>
          <a:bodyPr wrap="square" anchor="t">
            <a:spAutoFit/>
          </a:bodyPr>
          <a:lstStyle/>
          <a:p>
            <a:pPr algn="l">
              <a:spcAft>
                <a:spcPts val="200"/>
              </a:spcAft>
            </a:pPr>
            <a:r>
              <a:rPr sz="1300" b="0">
                <a:solidFill>
                  <a:srgbClr val="9CDCFE"/>
                </a:solidFill>
                <a:latin typeface="Arial"/>
              </a:rPr>
              <a:t>Here is a sprint progress update:</a:t>
            </a:r>
          </a:p>
          <a:p>
            <a:pPr algn="l">
              <a:spcAft>
                <a:spcPts val="200"/>
              </a:spcAft>
            </a:pPr>
            <a:r>
              <a:rPr sz="1300" b="0">
                <a:solidFill>
                  <a:srgbClr val="9CDCFE"/>
                </a:solidFill>
                <a:latin typeface="Arial"/>
              </a:rPr>
              <a:t>&lt;PASTE YOUR PROGRESS UPDATE FROM LAB 7&gt;</a:t>
            </a:r>
          </a:p>
          <a:p>
            <a:pPr algn="l">
              <a:spcAft>
                <a:spcPts val="200"/>
              </a:spcAft>
            </a:pPr>
            <a:r>
              <a:rPr sz="1300" b="0">
                <a:solidFill>
                  <a:srgbClr val="9CDCFE"/>
                </a:solidFill>
                <a:latin typeface="Arial"/>
              </a:rPr>
              <a:t>Rewrite it for three audiences: (1) the development team — technical, detailed, honest about blockers; (2) stakeholders — plain language, focused on value and dates; (3) leadership — three lines, the headline, the risk and the ask. Keep every version truthful to the same facts; only change tone and detail.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transition spd="med">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Assist Documentation, Communication and Testing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94560"/>
            <a:ext cx="9235440" cy="2377440"/>
          </a:xfrm>
          <a:prstGeom prst="rect">
            <a:avLst/>
          </a:prstGeom>
          <a:noFill/>
        </p:spPr>
        <p:txBody>
          <a:bodyPr wrap="square" anchor="ctr">
            <a:spAutoFit/>
          </a:bodyPr>
          <a:lstStyle/>
          <a:p>
            <a:pPr algn="l">
              <a:spcAft>
                <a:spcPts val="400"/>
              </a:spcAft>
            </a:pPr>
            <a:r>
              <a:rPr sz="2600" b="0">
                <a:solidFill>
                  <a:srgbClr val="161B26"/>
                </a:solidFill>
                <a:latin typeface="Arial"/>
              </a:rPr>
              <a:t>Check the tone yourself. Read the leadership version as if you were the executive: is it clear, honest and free of jargon and spin? Adjust it — you own how the team communicates, not the AI.</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transition spd="med">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Assist Documentation, Communication and Testing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48840"/>
            <a:ext cx="9235440" cy="1371600"/>
          </a:xfrm>
          <a:prstGeom prst="rect">
            <a:avLst/>
          </a:prstGeom>
          <a:noFill/>
        </p:spPr>
        <p:txBody>
          <a:bodyPr wrap="square" anchor="t">
            <a:spAutoFit/>
          </a:bodyPr>
          <a:lstStyle/>
          <a:p>
            <a:pPr algn="l">
              <a:spcAft>
                <a:spcPts val="400"/>
              </a:spcAft>
            </a:pPr>
            <a:r>
              <a:rPr sz="2300" b="0">
                <a:solidFill>
                  <a:srgbClr val="161B26"/>
                </a:solidFill>
                <a:latin typeface="Arial"/>
              </a:rPr>
              <a:t>Generate test scenarios from acceptance criteria. Feed your Lab 4 acceptance criteria in with the prompt below.</a:t>
            </a:r>
          </a:p>
        </p:txBody>
      </p:sp>
      <p:sp>
        <p:nvSpPr>
          <p:cNvPr id="11" name="TextBox 10"/>
          <p:cNvSpPr txBox="1"/>
          <p:nvPr/>
        </p:nvSpPr>
        <p:spPr>
          <a:xfrm>
            <a:off x="2331720" y="3493008"/>
            <a:ext cx="9144000" cy="274320"/>
          </a:xfrm>
          <a:prstGeom prst="rect">
            <a:avLst/>
          </a:prstGeom>
          <a:noFill/>
        </p:spPr>
        <p:txBody>
          <a:bodyPr wrap="square" anchor="t">
            <a:spAutoFit/>
          </a:bodyPr>
          <a:lstStyle/>
          <a:p>
            <a:pPr algn="l">
              <a:spcAft>
                <a:spcPts val="400"/>
              </a:spcAft>
            </a:pPr>
            <a:r>
              <a:rPr sz="1200" b="1">
                <a:solidFill>
                  <a:srgbClr val="1F6FEB"/>
                </a:solidFill>
                <a:latin typeface="Arial"/>
              </a:rPr>
              <a:t>PROMPT — paste into ChatGPT, Claude or Gemini</a:t>
            </a:r>
          </a:p>
        </p:txBody>
      </p:sp>
      <p:sp>
        <p:nvSpPr>
          <p:cNvPr id="12" name="Rectangle 11"/>
          <p:cNvSpPr/>
          <p:nvPr/>
        </p:nvSpPr>
        <p:spPr>
          <a:xfrm>
            <a:off x="2331720" y="3767328"/>
            <a:ext cx="9235440" cy="149961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3886200"/>
            <a:ext cx="8686800" cy="1261872"/>
          </a:xfrm>
          <a:prstGeom prst="rect">
            <a:avLst/>
          </a:prstGeom>
          <a:noFill/>
        </p:spPr>
        <p:txBody>
          <a:bodyPr wrap="square" anchor="t">
            <a:spAutoFit/>
          </a:bodyPr>
          <a:lstStyle/>
          <a:p>
            <a:pPr algn="l">
              <a:spcAft>
                <a:spcPts val="200"/>
              </a:spcAft>
            </a:pPr>
            <a:r>
              <a:rPr sz="1300" b="0">
                <a:solidFill>
                  <a:srgbClr val="9CDCFE"/>
                </a:solidFill>
                <a:latin typeface="Arial"/>
              </a:rPr>
              <a:t>For the user story and acceptance criteria below:</a:t>
            </a:r>
          </a:p>
          <a:p>
            <a:pPr algn="l">
              <a:spcAft>
                <a:spcPts val="200"/>
              </a:spcAft>
            </a:pPr>
            <a:r>
              <a:rPr sz="1300" b="0">
                <a:solidFill>
                  <a:srgbClr val="9CDCFE"/>
                </a:solidFill>
                <a:latin typeface="Arial"/>
              </a:rPr>
              <a:t>&lt;PASTE A KEY STORY AND ITS GIVEN/WHEN/THEN CRITERIA&gt;</a:t>
            </a:r>
          </a:p>
          <a:p>
            <a:pPr algn="l">
              <a:spcAft>
                <a:spcPts val="200"/>
              </a:spcAft>
            </a:pPr>
            <a:r>
              <a:rPr sz="1300" b="0">
                <a:solidFill>
                  <a:srgbClr val="9CDCFE"/>
                </a:solidFill>
                <a:latin typeface="Arial"/>
              </a:rPr>
              <a:t>Task: write test scenarios that would verify each acceptance criterion, including edge cases and error conditions (offline, permissions denied, an empty state, a shared-habit conflict). Format: a numbered checklist of 'Given/When/Then' test cases. Note any acceptance criterion that is not actually testable as written.</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Assist Documentation, Communication and Testing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48840"/>
            <a:ext cx="9235440" cy="1371600"/>
          </a:xfrm>
          <a:prstGeom prst="rect">
            <a:avLst/>
          </a:prstGeom>
          <a:noFill/>
        </p:spPr>
        <p:txBody>
          <a:bodyPr wrap="square" anchor="t">
            <a:spAutoFit/>
          </a:bodyPr>
          <a:lstStyle/>
          <a:p>
            <a:pPr algn="l">
              <a:spcAft>
                <a:spcPts val="400"/>
              </a:spcAft>
            </a:pPr>
            <a:r>
              <a:rPr sz="2300" b="0">
                <a:solidFill>
                  <a:srgbClr val="161B26"/>
                </a:solidFill>
                <a:latin typeface="Arial"/>
              </a:rPr>
              <a:t>Run a definition-of-done check. Ask the AI to test a story against your Definition of Done, then apply your own judgement.</a:t>
            </a:r>
          </a:p>
        </p:txBody>
      </p:sp>
      <p:sp>
        <p:nvSpPr>
          <p:cNvPr id="11" name="TextBox 10"/>
          <p:cNvSpPr txBox="1"/>
          <p:nvPr/>
        </p:nvSpPr>
        <p:spPr>
          <a:xfrm>
            <a:off x="2331720" y="3493008"/>
            <a:ext cx="9144000" cy="274320"/>
          </a:xfrm>
          <a:prstGeom prst="rect">
            <a:avLst/>
          </a:prstGeom>
          <a:noFill/>
        </p:spPr>
        <p:txBody>
          <a:bodyPr wrap="square" anchor="t">
            <a:spAutoFit/>
          </a:bodyPr>
          <a:lstStyle/>
          <a:p>
            <a:pPr algn="l">
              <a:spcAft>
                <a:spcPts val="400"/>
              </a:spcAft>
            </a:pPr>
            <a:r>
              <a:rPr sz="1200" b="1">
                <a:solidFill>
                  <a:srgbClr val="1F6FEB"/>
                </a:solidFill>
                <a:latin typeface="Arial"/>
              </a:rPr>
              <a:t>PROMPT — paste into ChatGPT, Claude or Gemini</a:t>
            </a:r>
          </a:p>
        </p:txBody>
      </p:sp>
      <p:sp>
        <p:nvSpPr>
          <p:cNvPr id="12" name="Rectangle 11"/>
          <p:cNvSpPr/>
          <p:nvPr/>
        </p:nvSpPr>
        <p:spPr>
          <a:xfrm>
            <a:off x="2331720" y="3767328"/>
            <a:ext cx="9235440" cy="149961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3886200"/>
            <a:ext cx="8686800" cy="1261872"/>
          </a:xfrm>
          <a:prstGeom prst="rect">
            <a:avLst/>
          </a:prstGeom>
          <a:noFill/>
        </p:spPr>
        <p:txBody>
          <a:bodyPr wrap="square" anchor="t">
            <a:spAutoFit/>
          </a:bodyPr>
          <a:lstStyle/>
          <a:p>
            <a:pPr algn="l">
              <a:spcAft>
                <a:spcPts val="200"/>
              </a:spcAft>
            </a:pPr>
            <a:r>
              <a:rPr sz="1300" b="0">
                <a:solidFill>
                  <a:srgbClr val="9CDCFE"/>
                </a:solidFill>
                <a:latin typeface="Arial"/>
              </a:rPr>
              <a:t>Here is our Definition of Done:</a:t>
            </a:r>
          </a:p>
          <a:p>
            <a:pPr algn="l">
              <a:spcAft>
                <a:spcPts val="200"/>
              </a:spcAft>
            </a:pPr>
            <a:r>
              <a:rPr sz="1300" b="0">
                <a:solidFill>
                  <a:srgbClr val="9CDCFE"/>
                </a:solidFill>
                <a:latin typeface="Arial"/>
              </a:rPr>
              <a:t>&lt;PASTE OR LIST YOUR DEFINITION OF DONE&gt;</a:t>
            </a:r>
          </a:p>
          <a:p>
            <a:pPr algn="l">
              <a:spcAft>
                <a:spcPts val="200"/>
              </a:spcAft>
            </a:pPr>
            <a:r>
              <a:rPr sz="1300" b="0">
                <a:solidFill>
                  <a:srgbClr val="9CDCFE"/>
                </a:solidFill>
                <a:latin typeface="Arial"/>
              </a:rPr>
              <a:t>and here is a story we think is finished:</a:t>
            </a:r>
          </a:p>
          <a:p>
            <a:pPr algn="l">
              <a:spcAft>
                <a:spcPts val="200"/>
              </a:spcAft>
            </a:pPr>
            <a:r>
              <a:rPr sz="1300" b="0">
                <a:solidFill>
                  <a:srgbClr val="9CDCFE"/>
                </a:solidFill>
                <a:latin typeface="Arial"/>
              </a:rPr>
              <a:t>&lt;PASTE THE STORY AND WHAT WAS DELIVERED&gt;</a:t>
            </a:r>
          </a:p>
          <a:p>
            <a:pPr algn="l">
              <a:spcAft>
                <a:spcPts val="200"/>
              </a:spcAft>
            </a:pPr>
            <a:r>
              <a:rPr sz="1300" b="0">
                <a:solidFill>
                  <a:srgbClr val="9CDCFE"/>
                </a:solidFill>
                <a:latin typeface="Arial"/>
              </a:rPr>
              <a:t>Task: check it against each Definition-of-Done item and list what is met, not met or unclear. Do not pass anything you cannot verify from the information given.</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transition spd="med">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Assist Documentation, Communication and Testing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2377440"/>
          </a:xfrm>
          <a:prstGeom prst="rect">
            <a:avLst/>
          </a:prstGeom>
          <a:noFill/>
        </p:spPr>
        <p:txBody>
          <a:bodyPr wrap="square" anchor="ctr">
            <a:spAutoFit/>
          </a:bodyPr>
          <a:lstStyle/>
          <a:p>
            <a:pPr algn="l">
              <a:spcAft>
                <a:spcPts val="400"/>
              </a:spcAft>
            </a:pPr>
            <a:r>
              <a:rPr sz="2600" b="0">
                <a:solidFill>
                  <a:srgbClr val="161B26"/>
                </a:solidFill>
                <a:latin typeface="Arial"/>
              </a:rPr>
              <a:t>Save the documentation, communication and testing section of your Tempo-2.0-Playbook folder: the reviewed release notes and templates, the three audience-tailored updates, and the test scenarios and definition-of-done check.</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transition spd="med">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Assist Documentation, Communication and Testing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AI-assisted sprint documentation with invented detail removed and gaps marked '[to confirm]', one update correctly re-pitched for the team, stakeholders and leadership, and test scenarios plus a definition-of-done check generated from your acceptance criteria and reviewed by you — all saved to your playbook.</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Recap — AI for Sprints, Standups and Delivery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 can now: Turn raw daily stand-up notes into a clear, consistent summary with AI, then track progress against the sprint goal and draft a plain-language burndown narrative — keeping the team's read of reality in the loop.</a:t>
            </a:r>
          </a:p>
        </p:txBody>
      </p:sp>
      <p:sp>
        <p:nvSpPr>
          <p:cNvPr id="12" name="Rectangle 11"/>
          <p:cNvSpPr/>
          <p:nvPr/>
        </p:nvSpPr>
        <p:spPr>
          <a:xfrm>
            <a:off x="777240" y="3316224"/>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3389376"/>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 can now: Use AI to read the team's notes and backlog and surface likely risks, blockers and dependencies early, map how the work depends on itself and on outside parties, and turn each into a mitigation and escalation the Scrum Master owns.</a:t>
            </a:r>
          </a:p>
        </p:txBody>
      </p:sp>
      <p:sp>
        <p:nvSpPr>
          <p:cNvPr id="17" name="Rectangle 16"/>
          <p:cNvSpPr/>
          <p:nvPr/>
        </p:nvSpPr>
        <p:spPr>
          <a:xfrm>
            <a:off x="777240" y="4803648"/>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876800"/>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 can now: Use AI to draft the sprint's routine documentation, tailor the same update for different audiences, and generate test scenarios and a definition-of-done check from acceptance criteria — reviewing each so quality stays the team's call.</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transition spd="med">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0B981"/>
                </a:solidFill>
                <a:latin typeface="Arial"/>
              </a:rPr>
              <a:t>TOPIC 04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AI for Reporting, Retrospectives and Improvement</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Generating status reports and dashboards · Analysing velocity and metrics with AI · Running AI-assisted retrospectives · Driving continuous improvement</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transition spd="med">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COURSE COVERAGE 25%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AI for Reporting, Retrospectives and Improvement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Status reports with AI — the AI turns sprint data and notes into a clear status report — progress against goal, completed and outstanding work, risks and next steps — pitched at the right level for its reader.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Dashboards and summaries — the AI helps design and describe a simple delivery dashboard (goal, scope, burndown, velocity, risks) and writes the narrative that explains what the numbers mean.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Analysing velocity — given past sprint data, the AI analyses velocity trends, flags a rising or falling trend, and helps forecast how much scope is realistic for coming sprints, with its assumptions stated.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Reading the metrics honestly — the AI helps interpret metrics (velocity, throughput, cycle time, completion rate) as signals for conversation and improvement, not as targets to game or sticks to beat the team with.</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AI-assisted retrospectives — the AI helps design a retrospective, group and theme the team's raw input into patterns, and surface candid discussion points, so the facilitator can focus on the conversation.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From retro to actions — the AI drafts a small set of specific, owned, time-bound improvement actions from the retrospective themes, which the team reviews, commits to and carries into the next sprint.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transition spd="med">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COURSE COVERAGE 25%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AI for Reporting, Retrospectives and Improvement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Continuous improvement — the AI helps track improvement actions across sprints, spot recurring themes, and keep an honest record of what the team tried and what changed, feeding the inspect-and-adapt loop.</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Psychological safety — retrospective input is sensitive; you anonymise and aggregate it, keep it inside the team, and use AI to find themes, never to judge or expose individuals.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9</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Closing the loop — reporting, metrics and retrospectives only add value when they change what the team does next; the whole point of AI here is faster insight so the team spends its time acting on it.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transition spd="med">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Hands-On Labs — AI for Reporting, Retrospectives and Improvement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10</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Generate Status Reports and a Delivery Dashboard</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11</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Analyse Velocity and Metrics with AI</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12</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Run an AI-Assisted Retrospective and Plan Continuous Improvement</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transition spd="med">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Generate Status Reports and a Delivery Dashboard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10</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300" b="0">
                <a:solidFill>
                  <a:srgbClr val="161B26"/>
                </a:solidFill>
                <a:latin typeface="Arial"/>
              </a:rPr>
              <a:t>At the end of a sprint the team must tell its story to others. In this lab you use an assistant to produce reporting that is clear and honest. You feed the sprint's goal, completed and outstanding work, risks and next steps to the AI and have it draft a status report — then re-pitch it for the right reader, from a one-page stakeholder update to a three-line leadership summary. You then design a simple delivery dashboard: you ask the AI which few metrics matter (goal, scope, burndown, velocity, risks), how to lay them out, and — most importantly — to write the narrative that explains what the numbers actually mean, so a dashboard informs rather than misleads. You review every figure the AI states against your real data. BUILDING BLOCK — what you create in this lab becomes a section of your Tempo 2.0 Agile AI Playbook, the connected project you assemble across all 12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300" b="1">
                <a:solidFill>
                  <a:srgbClr val="161B26"/>
                </a:solidFill>
                <a:latin typeface="Arial"/>
              </a:rPr>
              <a:t>A reviewed Tempo 2.0 sprint status report pitched for its audience, and a simple delivery-dashboard design (the few metrics that matter, a layout, and the plain-language narrative that explains them) — saved as the reporting section of your playbook.</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Any assistant, the status-report template from your prompt library, audience-pitched reporting, dashboard design, a metrics narrative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transition spd="med">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Generate Status Reports and a Delivery Dashboard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2377440"/>
          </a:xfrm>
          <a:prstGeom prst="rect">
            <a:avLst/>
          </a:prstGeom>
          <a:noFill/>
        </p:spPr>
        <p:txBody>
          <a:bodyPr wrap="square" anchor="ctr">
            <a:spAutoFit/>
          </a:bodyPr>
          <a:lstStyle/>
          <a:p>
            <a:pPr algn="l">
              <a:spcAft>
                <a:spcPts val="400"/>
              </a:spcAft>
            </a:pPr>
            <a:r>
              <a:rPr sz="2600" b="0">
                <a:solidFill>
                  <a:srgbClr val="161B26"/>
                </a:solidFill>
                <a:latin typeface="Arial"/>
              </a:rPr>
              <a:t>Gather your sprint data: the sprint goal, what was completed and what slipped, your risk log from Lab 8, and the burndown from Lab 7. Grab your status-report template from your prompt library.</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transition spd="med">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Generate Status Reports and a Delivery Dashboard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48840"/>
            <a:ext cx="9235440" cy="1371600"/>
          </a:xfrm>
          <a:prstGeom prst="rect">
            <a:avLst/>
          </a:prstGeom>
          <a:noFill/>
        </p:spPr>
        <p:txBody>
          <a:bodyPr wrap="square" anchor="t">
            <a:spAutoFit/>
          </a:bodyPr>
          <a:lstStyle/>
          <a:p>
            <a:pPr algn="l">
              <a:spcAft>
                <a:spcPts val="400"/>
              </a:spcAft>
            </a:pPr>
            <a:r>
              <a:rPr sz="2300" b="0">
                <a:solidFill>
                  <a:srgbClr val="161B26"/>
                </a:solidFill>
                <a:latin typeface="Arial"/>
              </a:rPr>
              <a:t>Draft the status report. Paste the prompt below with your data.</a:t>
            </a:r>
          </a:p>
        </p:txBody>
      </p:sp>
      <p:sp>
        <p:nvSpPr>
          <p:cNvPr id="11" name="TextBox 10"/>
          <p:cNvSpPr txBox="1"/>
          <p:nvPr/>
        </p:nvSpPr>
        <p:spPr>
          <a:xfrm>
            <a:off x="2331720" y="3493008"/>
            <a:ext cx="9144000" cy="274320"/>
          </a:xfrm>
          <a:prstGeom prst="rect">
            <a:avLst/>
          </a:prstGeom>
          <a:noFill/>
        </p:spPr>
        <p:txBody>
          <a:bodyPr wrap="square" anchor="t">
            <a:spAutoFit/>
          </a:bodyPr>
          <a:lstStyle/>
          <a:p>
            <a:pPr algn="l">
              <a:spcAft>
                <a:spcPts val="400"/>
              </a:spcAft>
            </a:pPr>
            <a:r>
              <a:rPr sz="1200" b="1">
                <a:solidFill>
                  <a:srgbClr val="1F6FEB"/>
                </a:solidFill>
                <a:latin typeface="Arial"/>
              </a:rPr>
              <a:t>PROMPT — paste into ChatGPT, Claude or Gemini</a:t>
            </a:r>
          </a:p>
        </p:txBody>
      </p:sp>
      <p:sp>
        <p:nvSpPr>
          <p:cNvPr id="12" name="Rectangle 11"/>
          <p:cNvSpPr/>
          <p:nvPr/>
        </p:nvSpPr>
        <p:spPr>
          <a:xfrm>
            <a:off x="2331720" y="3767328"/>
            <a:ext cx="9235440" cy="169773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3886200"/>
            <a:ext cx="8686800" cy="1459992"/>
          </a:xfrm>
          <a:prstGeom prst="rect">
            <a:avLst/>
          </a:prstGeom>
          <a:noFill/>
        </p:spPr>
        <p:txBody>
          <a:bodyPr wrap="square" anchor="t">
            <a:spAutoFit/>
          </a:bodyPr>
          <a:lstStyle/>
          <a:p>
            <a:pPr algn="l">
              <a:spcAft>
                <a:spcPts val="200"/>
              </a:spcAft>
            </a:pPr>
            <a:r>
              <a:rPr sz="1300" b="0">
                <a:solidFill>
                  <a:srgbClr val="9CDCFE"/>
                </a:solidFill>
                <a:latin typeface="Arial"/>
              </a:rPr>
              <a:t>You are a delivery lead writing a sprint status report for stakeholders. Here is our Tempo 2.0 Sprint 1 data:</a:t>
            </a:r>
          </a:p>
          <a:p>
            <a:pPr algn="l">
              <a:spcAft>
                <a:spcPts val="200"/>
              </a:spcAft>
            </a:pPr>
            <a:r>
              <a:rPr sz="1300" b="0">
                <a:solidFill>
                  <a:srgbClr val="9CDCFE"/>
                </a:solidFill>
                <a:latin typeface="Arial"/>
              </a:rPr>
              <a:t>&lt;PASTE GOAL, COMPLETED, OUTSTANDING, RISKS, NEXT STEPS&gt;</a:t>
            </a:r>
          </a:p>
          <a:p>
            <a:pPr algn="l">
              <a:spcAft>
                <a:spcPts val="200"/>
              </a:spcAft>
            </a:pPr>
            <a:r>
              <a:rPr sz="1300" b="0">
                <a:solidFill>
                  <a:srgbClr val="9CDCFE"/>
                </a:solidFill>
                <a:latin typeface="Arial"/>
              </a:rPr>
              <a:t>Task: write a one-page status report with these sections — Sprint goal and whether we met it, What we delivered, What is outstanding and why, Risks and mitigations, Next sprint focus. Format: clear headings and short bullets. Constraints: be honest about what slipped, use only the data given, and do not overstate progress.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transition spd="med">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Generate Status Reports and a Delivery Dashboard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48840"/>
            <a:ext cx="9235440" cy="1371600"/>
          </a:xfrm>
          <a:prstGeom prst="rect">
            <a:avLst/>
          </a:prstGeom>
          <a:noFill/>
        </p:spPr>
        <p:txBody>
          <a:bodyPr wrap="square" anchor="t">
            <a:spAutoFit/>
          </a:bodyPr>
          <a:lstStyle/>
          <a:p>
            <a:pPr algn="l">
              <a:spcAft>
                <a:spcPts val="400"/>
              </a:spcAft>
            </a:pPr>
            <a:r>
              <a:rPr sz="2300" b="0">
                <a:solidFill>
                  <a:srgbClr val="161B26"/>
                </a:solidFill>
                <a:latin typeface="Arial"/>
              </a:rPr>
              <a:t>Re-pitch for leadership. Ask the AI to compress the same report for executives with the prompt below.</a:t>
            </a:r>
          </a:p>
        </p:txBody>
      </p:sp>
      <p:sp>
        <p:nvSpPr>
          <p:cNvPr id="11" name="TextBox 10"/>
          <p:cNvSpPr txBox="1"/>
          <p:nvPr/>
        </p:nvSpPr>
        <p:spPr>
          <a:xfrm>
            <a:off x="2331720" y="3493008"/>
            <a:ext cx="9144000" cy="274320"/>
          </a:xfrm>
          <a:prstGeom prst="rect">
            <a:avLst/>
          </a:prstGeom>
          <a:noFill/>
        </p:spPr>
        <p:txBody>
          <a:bodyPr wrap="square" anchor="t">
            <a:spAutoFit/>
          </a:bodyPr>
          <a:lstStyle/>
          <a:p>
            <a:pPr algn="l">
              <a:spcAft>
                <a:spcPts val="400"/>
              </a:spcAft>
            </a:pPr>
            <a:r>
              <a:rPr sz="1200" b="1">
                <a:solidFill>
                  <a:srgbClr val="1F6FEB"/>
                </a:solidFill>
                <a:latin typeface="Arial"/>
              </a:rPr>
              <a:t>PROMPT — paste into ChatGPT, Claude or Gemini</a:t>
            </a:r>
          </a:p>
        </p:txBody>
      </p:sp>
      <p:sp>
        <p:nvSpPr>
          <p:cNvPr id="12" name="Rectangle 11"/>
          <p:cNvSpPr/>
          <p:nvPr/>
        </p:nvSpPr>
        <p:spPr>
          <a:xfrm>
            <a:off x="2331720" y="3767328"/>
            <a:ext cx="9235440" cy="70713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3886200"/>
            <a:ext cx="8686800" cy="469392"/>
          </a:xfrm>
          <a:prstGeom prst="rect">
            <a:avLst/>
          </a:prstGeom>
          <a:noFill/>
        </p:spPr>
        <p:txBody>
          <a:bodyPr wrap="square" anchor="t">
            <a:spAutoFit/>
          </a:bodyPr>
          <a:lstStyle/>
          <a:p>
            <a:pPr algn="l">
              <a:spcAft>
                <a:spcPts val="200"/>
              </a:spcAft>
            </a:pPr>
            <a:r>
              <a:rPr sz="1300" b="0">
                <a:solidFill>
                  <a:srgbClr val="9CDCFE"/>
                </a:solidFill>
                <a:latin typeface="Arial"/>
              </a:rPr>
              <a:t>Compress that status report into a three-line leadership summary: line 1 the headline (did we meet the sprint goal), line 2 the main risk, line 3 the ask or decision needed. Keep it truthful to the full report.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transition spd="med">
    <p:fade/>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Generate Status Reports and a Delivery Dashboard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94560"/>
            <a:ext cx="9235440" cy="2377440"/>
          </a:xfrm>
          <a:prstGeom prst="rect">
            <a:avLst/>
          </a:prstGeom>
          <a:noFill/>
        </p:spPr>
        <p:txBody>
          <a:bodyPr wrap="square" anchor="ctr">
            <a:spAutoFit/>
          </a:bodyPr>
          <a:lstStyle/>
          <a:p>
            <a:pPr algn="l">
              <a:spcAft>
                <a:spcPts val="400"/>
              </a:spcAft>
            </a:pPr>
            <a:r>
              <a:rPr sz="2600" b="0">
                <a:solidFill>
                  <a:srgbClr val="161B26"/>
                </a:solidFill>
                <a:latin typeface="Arial"/>
              </a:rPr>
              <a:t>Fact-check the report. Check every number and claim against your real data — completed points, dates, risk status. Correct anything the AI rounded, guessed or overstated. A status report the team cannot stand behind is worse than none.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transition spd="med">
    <p:fade/>
  </p:transition>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Generate Status Reports and a Delivery Dashboard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48840"/>
            <a:ext cx="9235440" cy="1371600"/>
          </a:xfrm>
          <a:prstGeom prst="rect">
            <a:avLst/>
          </a:prstGeom>
          <a:noFill/>
        </p:spPr>
        <p:txBody>
          <a:bodyPr wrap="square" anchor="t">
            <a:spAutoFit/>
          </a:bodyPr>
          <a:lstStyle/>
          <a:p>
            <a:pPr algn="l">
              <a:spcAft>
                <a:spcPts val="400"/>
              </a:spcAft>
            </a:pPr>
            <a:r>
              <a:rPr sz="2300" b="0">
                <a:solidFill>
                  <a:srgbClr val="161B26"/>
                </a:solidFill>
                <a:latin typeface="Arial"/>
              </a:rPr>
              <a:t>Design a delivery dashboard. Ask the AI what to show and how, using the prompt below.</a:t>
            </a:r>
          </a:p>
        </p:txBody>
      </p:sp>
      <p:sp>
        <p:nvSpPr>
          <p:cNvPr id="11" name="TextBox 10"/>
          <p:cNvSpPr txBox="1"/>
          <p:nvPr/>
        </p:nvSpPr>
        <p:spPr>
          <a:xfrm>
            <a:off x="2331720" y="3493008"/>
            <a:ext cx="9144000" cy="274320"/>
          </a:xfrm>
          <a:prstGeom prst="rect">
            <a:avLst/>
          </a:prstGeom>
          <a:noFill/>
        </p:spPr>
        <p:txBody>
          <a:bodyPr wrap="square" anchor="t">
            <a:spAutoFit/>
          </a:bodyPr>
          <a:lstStyle/>
          <a:p>
            <a:pPr algn="l">
              <a:spcAft>
                <a:spcPts val="400"/>
              </a:spcAft>
            </a:pPr>
            <a:r>
              <a:rPr sz="1200" b="1">
                <a:solidFill>
                  <a:srgbClr val="1F6FEB"/>
                </a:solidFill>
                <a:latin typeface="Arial"/>
              </a:rPr>
              <a:t>PROMPT — paste into ChatGPT, Claude or Gemini</a:t>
            </a:r>
          </a:p>
        </p:txBody>
      </p:sp>
      <p:sp>
        <p:nvSpPr>
          <p:cNvPr id="12" name="Rectangle 11"/>
          <p:cNvSpPr/>
          <p:nvPr/>
        </p:nvSpPr>
        <p:spPr>
          <a:xfrm>
            <a:off x="2331720" y="3767328"/>
            <a:ext cx="9235440" cy="11033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3886200"/>
            <a:ext cx="8686800" cy="865632"/>
          </a:xfrm>
          <a:prstGeom prst="rect">
            <a:avLst/>
          </a:prstGeom>
          <a:noFill/>
        </p:spPr>
        <p:txBody>
          <a:bodyPr wrap="square" anchor="t">
            <a:spAutoFit/>
          </a:bodyPr>
          <a:lstStyle/>
          <a:p>
            <a:pPr algn="l">
              <a:spcAft>
                <a:spcPts val="200"/>
              </a:spcAft>
            </a:pPr>
            <a:r>
              <a:rPr sz="1300" b="0">
                <a:solidFill>
                  <a:srgbClr val="9CDCFE"/>
                </a:solidFill>
                <a:latin typeface="Arial"/>
              </a:rPr>
              <a:t>Design a simple one-screen delivery dashboard for the Tempo 2.0 release that a mixed audience could read at a glance. Task: recommend the few metrics that matter most (for example sprint goal status, scope completed vs planned, burndown, velocity trend, top risks), describe a clean layout for them, and say what each metric should and should not be used to conclude. Do not add vanity metrics.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transition spd="med">
    <p:fade/>
  </p:transition>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Generate Status Reports and a Delivery Dashboard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48840"/>
            <a:ext cx="9235440" cy="1371600"/>
          </a:xfrm>
          <a:prstGeom prst="rect">
            <a:avLst/>
          </a:prstGeom>
          <a:noFill/>
        </p:spPr>
        <p:txBody>
          <a:bodyPr wrap="square" anchor="t">
            <a:spAutoFit/>
          </a:bodyPr>
          <a:lstStyle/>
          <a:p>
            <a:pPr algn="l">
              <a:spcAft>
                <a:spcPts val="400"/>
              </a:spcAft>
            </a:pPr>
            <a:r>
              <a:rPr sz="2300" b="0">
                <a:solidFill>
                  <a:srgbClr val="161B26"/>
                </a:solidFill>
                <a:latin typeface="Arial"/>
              </a:rPr>
              <a:t>Write the metrics narrative. Have the AI explain the numbers in words, then review it.</a:t>
            </a:r>
          </a:p>
        </p:txBody>
      </p:sp>
      <p:sp>
        <p:nvSpPr>
          <p:cNvPr id="11" name="TextBox 10"/>
          <p:cNvSpPr txBox="1"/>
          <p:nvPr/>
        </p:nvSpPr>
        <p:spPr>
          <a:xfrm>
            <a:off x="2331720" y="3493008"/>
            <a:ext cx="9144000" cy="274320"/>
          </a:xfrm>
          <a:prstGeom prst="rect">
            <a:avLst/>
          </a:prstGeom>
          <a:noFill/>
        </p:spPr>
        <p:txBody>
          <a:bodyPr wrap="square" anchor="t">
            <a:spAutoFit/>
          </a:bodyPr>
          <a:lstStyle/>
          <a:p>
            <a:pPr algn="l">
              <a:spcAft>
                <a:spcPts val="400"/>
              </a:spcAft>
            </a:pPr>
            <a:r>
              <a:rPr sz="1200" b="1">
                <a:solidFill>
                  <a:srgbClr val="1F6FEB"/>
                </a:solidFill>
                <a:latin typeface="Arial"/>
              </a:rPr>
              <a:t>PROMPT — paste into ChatGPT, Claude or Gemini</a:t>
            </a:r>
          </a:p>
        </p:txBody>
      </p:sp>
      <p:sp>
        <p:nvSpPr>
          <p:cNvPr id="12" name="Rectangle 11"/>
          <p:cNvSpPr/>
          <p:nvPr/>
        </p:nvSpPr>
        <p:spPr>
          <a:xfrm>
            <a:off x="2331720" y="3767328"/>
            <a:ext cx="9235440" cy="130149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3886200"/>
            <a:ext cx="8686800" cy="1063752"/>
          </a:xfrm>
          <a:prstGeom prst="rect">
            <a:avLst/>
          </a:prstGeom>
          <a:noFill/>
        </p:spPr>
        <p:txBody>
          <a:bodyPr wrap="square" anchor="t">
            <a:spAutoFit/>
          </a:bodyPr>
          <a:lstStyle/>
          <a:p>
            <a:pPr algn="l">
              <a:spcAft>
                <a:spcPts val="200"/>
              </a:spcAft>
            </a:pPr>
            <a:r>
              <a:rPr sz="1300" b="0">
                <a:solidFill>
                  <a:srgbClr val="9CDCFE"/>
                </a:solidFill>
                <a:latin typeface="Arial"/>
              </a:rPr>
              <a:t>Write a short narrative to sit beside the dashboard that explains what this sprint's numbers actually mean for a non-technical reader — what is going well, what to watch, and what the numbers do NOT tell us. Base it on:</a:t>
            </a:r>
          </a:p>
          <a:p>
            <a:pPr algn="l">
              <a:spcAft>
                <a:spcPts val="200"/>
              </a:spcAft>
            </a:pPr>
            <a:r>
              <a:rPr sz="1300" b="0">
                <a:solidFill>
                  <a:srgbClr val="9CDCFE"/>
                </a:solidFill>
                <a:latin typeface="Arial"/>
              </a:rPr>
              <a:t>&lt;PASTE YOUR REAL SPRINT METRICS&gt;</a:t>
            </a:r>
          </a:p>
          <a:p>
            <a:pPr algn="l">
              <a:spcAft>
                <a:spcPts val="200"/>
              </a:spcAft>
            </a:pPr>
            <a:r>
              <a:rPr sz="1300" b="0">
                <a:solidFill>
                  <a:srgbClr val="9CDCFE"/>
                </a:solidFill>
                <a:latin typeface="Arial"/>
              </a:rPr>
              <a:t>Be honest and avoid making the metrics sound better than they are.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transition spd="med">
    <p:fade/>
  </p:transition>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Generate Status Reports and a Delivery Dashboard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2377440"/>
          </a:xfrm>
          <a:prstGeom prst="rect">
            <a:avLst/>
          </a:prstGeom>
          <a:noFill/>
        </p:spPr>
        <p:txBody>
          <a:bodyPr wrap="square" anchor="ctr">
            <a:spAutoFit/>
          </a:bodyPr>
          <a:lstStyle/>
          <a:p>
            <a:pPr algn="l">
              <a:spcAft>
                <a:spcPts val="400"/>
              </a:spcAft>
            </a:pPr>
            <a:r>
              <a:rPr sz="2600" b="0">
                <a:solidFill>
                  <a:srgbClr val="161B26"/>
                </a:solidFill>
                <a:latin typeface="Arial"/>
              </a:rPr>
              <a:t>Review and save. Confirm the dashboard would inform, not mislead, and that the narrative is honest. Save the status report, dashboard design and narrative as the reporting section of your Tempo-2.0-Playbook folder.</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transition spd="med">
    <p:fade/>
  </p:transition>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Generate Status Reports and a Delivery Dashboard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a reviewed Tempo 2.0 status report with an audience-pitched leadership summary and every figure fact-checked against real data, plus a simple delivery-dashboard design with an honest narrative explaining what the metrics do and do not mean — all saved to your playbook.</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transition spd="med">
    <p:fade/>
  </p:transition>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Analyse Velocity and Metrics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300" b="0">
                <a:solidFill>
                  <a:srgbClr val="161B26"/>
                </a:solidFill>
                <a:latin typeface="Arial"/>
              </a:rPr>
              <a:t>Metrics only help if they are read well. In this lab you use an assistant as an analyst on the supplied Tempo history — several sprints of velocity and delivery data. You ask the AI to analyse the velocity trend, flag whether it is rising, falling or noisy, and forecast how much scope is realistic for the next sprints, with its assumptions stated. You have it interpret throughput, cycle time and completion rate as signals — what each suggests to talk about — and you explicitly guard against misusing them: metrics are for the team to improve, not targets to hit or sticks to beat people with. You review every calculation and reading, because a confident but wrong analysis is worse than none. BUILDING BLOCK — what you create in this lab becomes a section of your Tempo 2.0 Agile AI Playbook, the connected project you assemble across all 12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300" b="1">
                <a:solidFill>
                  <a:srgbClr val="161B26"/>
                </a:solidFill>
                <a:latin typeface="Arial"/>
              </a:rPr>
              <a:t>An AI-assisted analysis of the Tempo velocity and delivery metrics — a velocity-trend read, a realistic scope forecast with assumptions, and an honest interpretation of throughput, cycle time and completion rate as signals — reviewed by you and saved.</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Any assistant, the sprint metrics history, velocity-trend analysis, scope forecasting, honest metric interpretation</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transition spd="med">
    <p:fade/>
  </p:transition>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Analyse Velocity and Metrics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2377440"/>
          </a:xfrm>
          <a:prstGeom prst="rect">
            <a:avLst/>
          </a:prstGeom>
          <a:noFill/>
        </p:spPr>
        <p:txBody>
          <a:bodyPr wrap="square" anchor="ctr">
            <a:spAutoFit/>
          </a:bodyPr>
          <a:lstStyle/>
          <a:p>
            <a:pPr algn="l">
              <a:spcAft>
                <a:spcPts val="400"/>
              </a:spcAft>
            </a:pPr>
            <a:r>
              <a:rPr sz="2600" b="0">
                <a:solidFill>
                  <a:srgbClr val="161B26"/>
                </a:solidFill>
                <a:latin typeface="Arial"/>
              </a:rPr>
              <a:t>Open the supplied sprint metrics history for Tempo (labs/reference-pack/) — several sprints of committed vs completed points, and any throughput or cycle-time figures. Paste it into any assistant.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transition spd="med">
    <p:fade/>
  </p:transition>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Analyse Velocity and Metrics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48840"/>
            <a:ext cx="9235440" cy="1371600"/>
          </a:xfrm>
          <a:prstGeom prst="rect">
            <a:avLst/>
          </a:prstGeom>
          <a:noFill/>
        </p:spPr>
        <p:txBody>
          <a:bodyPr wrap="square" anchor="t">
            <a:spAutoFit/>
          </a:bodyPr>
          <a:lstStyle/>
          <a:p>
            <a:pPr algn="l">
              <a:spcAft>
                <a:spcPts val="400"/>
              </a:spcAft>
            </a:pPr>
            <a:r>
              <a:rPr sz="2300" b="0">
                <a:solidFill>
                  <a:srgbClr val="161B26"/>
                </a:solidFill>
                <a:latin typeface="Arial"/>
              </a:rPr>
              <a:t>Analyse the velocity trend. Use the prompt below.</a:t>
            </a:r>
          </a:p>
        </p:txBody>
      </p:sp>
      <p:sp>
        <p:nvSpPr>
          <p:cNvPr id="11" name="TextBox 10"/>
          <p:cNvSpPr txBox="1"/>
          <p:nvPr/>
        </p:nvSpPr>
        <p:spPr>
          <a:xfrm>
            <a:off x="2331720" y="3493008"/>
            <a:ext cx="9144000" cy="274320"/>
          </a:xfrm>
          <a:prstGeom prst="rect">
            <a:avLst/>
          </a:prstGeom>
          <a:noFill/>
        </p:spPr>
        <p:txBody>
          <a:bodyPr wrap="square" anchor="t">
            <a:spAutoFit/>
          </a:bodyPr>
          <a:lstStyle/>
          <a:p>
            <a:pPr algn="l">
              <a:spcAft>
                <a:spcPts val="400"/>
              </a:spcAft>
            </a:pPr>
            <a:r>
              <a:rPr sz="1200" b="1">
                <a:solidFill>
                  <a:srgbClr val="1F6FEB"/>
                </a:solidFill>
                <a:latin typeface="Arial"/>
              </a:rPr>
              <a:t>PROMPT — paste into ChatGPT, Claude or Gemini</a:t>
            </a:r>
          </a:p>
        </p:txBody>
      </p:sp>
      <p:sp>
        <p:nvSpPr>
          <p:cNvPr id="12" name="Rectangle 11"/>
          <p:cNvSpPr/>
          <p:nvPr/>
        </p:nvSpPr>
        <p:spPr>
          <a:xfrm>
            <a:off x="2331720" y="3767328"/>
            <a:ext cx="9235440" cy="149961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3886200"/>
            <a:ext cx="8686800" cy="1261872"/>
          </a:xfrm>
          <a:prstGeom prst="rect">
            <a:avLst/>
          </a:prstGeom>
          <a:noFill/>
        </p:spPr>
        <p:txBody>
          <a:bodyPr wrap="square" anchor="t">
            <a:spAutoFit/>
          </a:bodyPr>
          <a:lstStyle/>
          <a:p>
            <a:pPr algn="l">
              <a:spcAft>
                <a:spcPts val="200"/>
              </a:spcAft>
            </a:pPr>
            <a:r>
              <a:rPr sz="1300" b="0">
                <a:solidFill>
                  <a:srgbClr val="9CDCFE"/>
                </a:solidFill>
                <a:latin typeface="Arial"/>
              </a:rPr>
              <a:t>You are an Agile delivery analyst. Here is our Tempo sprint history:</a:t>
            </a:r>
          </a:p>
          <a:p>
            <a:pPr algn="l">
              <a:spcAft>
                <a:spcPts val="200"/>
              </a:spcAft>
            </a:pPr>
            <a:r>
              <a:rPr sz="1300" b="0">
                <a:solidFill>
                  <a:srgbClr val="9CDCFE"/>
                </a:solidFill>
                <a:latin typeface="Arial"/>
              </a:rPr>
              <a:t>&lt;PASTE THE SPRINT METRICS&gt;</a:t>
            </a:r>
          </a:p>
          <a:p>
            <a:pPr algn="l">
              <a:spcAft>
                <a:spcPts val="200"/>
              </a:spcAft>
            </a:pPr>
            <a:r>
              <a:rPr sz="1300" b="0">
                <a:solidFill>
                  <a:srgbClr val="9CDCFE"/>
                </a:solidFill>
                <a:latin typeface="Arial"/>
              </a:rPr>
              <a:t>Task: analyse our velocity trend across these sprints — is it rising, falling, stable or too noisy to tell? Show the average and the range, and explain what could be driving the pattern. Constraints: state clearly if the data is too little to be reliable, and do not present a trend more confident than the data supports.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transition spd="med">
    <p:fade/>
  </p:transition>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Analyse Velocity and Metrics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48840"/>
            <a:ext cx="9235440" cy="1371600"/>
          </a:xfrm>
          <a:prstGeom prst="rect">
            <a:avLst/>
          </a:prstGeom>
          <a:noFill/>
        </p:spPr>
        <p:txBody>
          <a:bodyPr wrap="square" anchor="t">
            <a:spAutoFit/>
          </a:bodyPr>
          <a:lstStyle/>
          <a:p>
            <a:pPr algn="l">
              <a:spcAft>
                <a:spcPts val="400"/>
              </a:spcAft>
            </a:pPr>
            <a:r>
              <a:rPr sz="2300" b="0">
                <a:solidFill>
                  <a:srgbClr val="161B26"/>
                </a:solidFill>
                <a:latin typeface="Arial"/>
              </a:rPr>
              <a:t>Forecast realistic scope. Ask the AI to project the next sprints with assumptions stated.</a:t>
            </a:r>
          </a:p>
        </p:txBody>
      </p:sp>
      <p:sp>
        <p:nvSpPr>
          <p:cNvPr id="11" name="TextBox 10"/>
          <p:cNvSpPr txBox="1"/>
          <p:nvPr/>
        </p:nvSpPr>
        <p:spPr>
          <a:xfrm>
            <a:off x="2331720" y="3493008"/>
            <a:ext cx="9144000" cy="274320"/>
          </a:xfrm>
          <a:prstGeom prst="rect">
            <a:avLst/>
          </a:prstGeom>
          <a:noFill/>
        </p:spPr>
        <p:txBody>
          <a:bodyPr wrap="square" anchor="t">
            <a:spAutoFit/>
          </a:bodyPr>
          <a:lstStyle/>
          <a:p>
            <a:pPr algn="l">
              <a:spcAft>
                <a:spcPts val="400"/>
              </a:spcAft>
            </a:pPr>
            <a:r>
              <a:rPr sz="1200" b="1">
                <a:solidFill>
                  <a:srgbClr val="1F6FEB"/>
                </a:solidFill>
                <a:latin typeface="Arial"/>
              </a:rPr>
              <a:t>PROMPT — paste into ChatGPT, Claude or Gemini</a:t>
            </a:r>
          </a:p>
        </p:txBody>
      </p:sp>
      <p:sp>
        <p:nvSpPr>
          <p:cNvPr id="12" name="Rectangle 11"/>
          <p:cNvSpPr/>
          <p:nvPr/>
        </p:nvSpPr>
        <p:spPr>
          <a:xfrm>
            <a:off x="2331720" y="3767328"/>
            <a:ext cx="9235440" cy="90525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3886200"/>
            <a:ext cx="8686800" cy="667512"/>
          </a:xfrm>
          <a:prstGeom prst="rect">
            <a:avLst/>
          </a:prstGeom>
          <a:noFill/>
        </p:spPr>
        <p:txBody>
          <a:bodyPr wrap="square" anchor="t">
            <a:spAutoFit/>
          </a:bodyPr>
          <a:lstStyle/>
          <a:p>
            <a:pPr algn="l">
              <a:spcAft>
                <a:spcPts val="200"/>
              </a:spcAft>
            </a:pPr>
            <a:r>
              <a:rPr sz="1300" b="0">
                <a:solidFill>
                  <a:srgbClr val="9CDCFE"/>
                </a:solidFill>
                <a:latin typeface="Arial"/>
              </a:rPr>
              <a:t>Based on that velocity analysis, forecast how many story points we could realistically commit to in each of the next 2 sprints, giving a conservative and an optimistic figure. State every assumption (team availability, no major disruption, similar work type). Make clear this is a planning aid, not a promise.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transition spd="med">
    <p:fade/>
  </p:transition>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Analyse Velocity and Metrics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94560"/>
            <a:ext cx="9235440" cy="2377440"/>
          </a:xfrm>
          <a:prstGeom prst="rect">
            <a:avLst/>
          </a:prstGeom>
          <a:noFill/>
        </p:spPr>
        <p:txBody>
          <a:bodyPr wrap="square" anchor="ctr">
            <a:spAutoFit/>
          </a:bodyPr>
          <a:lstStyle/>
          <a:p>
            <a:pPr algn="l">
              <a:spcAft>
                <a:spcPts val="400"/>
              </a:spcAft>
            </a:pPr>
            <a:r>
              <a:rPr sz="2600" b="0">
                <a:solidFill>
                  <a:srgbClr val="161B26"/>
                </a:solidFill>
                <a:latin typeface="Arial"/>
              </a:rPr>
              <a:t>Verify the maths. Recompute the average velocity yourself from the raw numbers and compare it to the AI's. If they differ, find out why. Never report a metric you have not checked.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transition spd="med">
    <p:fade/>
  </p:transition>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Analyse Velocity and Metrics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48840"/>
            <a:ext cx="9235440" cy="1371600"/>
          </a:xfrm>
          <a:prstGeom prst="rect">
            <a:avLst/>
          </a:prstGeom>
          <a:noFill/>
        </p:spPr>
        <p:txBody>
          <a:bodyPr wrap="square" anchor="t">
            <a:spAutoFit/>
          </a:bodyPr>
          <a:lstStyle/>
          <a:p>
            <a:pPr algn="l">
              <a:spcAft>
                <a:spcPts val="400"/>
              </a:spcAft>
            </a:pPr>
            <a:r>
              <a:rPr sz="2300" b="0">
                <a:solidFill>
                  <a:srgbClr val="161B26"/>
                </a:solidFill>
                <a:latin typeface="Arial"/>
              </a:rPr>
              <a:t>Interpret the wider metrics as signals. Use the prompt below for throughput, cycle time and completion rate.</a:t>
            </a:r>
          </a:p>
        </p:txBody>
      </p:sp>
      <p:sp>
        <p:nvSpPr>
          <p:cNvPr id="11" name="TextBox 10"/>
          <p:cNvSpPr txBox="1"/>
          <p:nvPr/>
        </p:nvSpPr>
        <p:spPr>
          <a:xfrm>
            <a:off x="2331720" y="3493008"/>
            <a:ext cx="9144000" cy="274320"/>
          </a:xfrm>
          <a:prstGeom prst="rect">
            <a:avLst/>
          </a:prstGeom>
          <a:noFill/>
        </p:spPr>
        <p:txBody>
          <a:bodyPr wrap="square" anchor="t">
            <a:spAutoFit/>
          </a:bodyPr>
          <a:lstStyle/>
          <a:p>
            <a:pPr algn="l">
              <a:spcAft>
                <a:spcPts val="400"/>
              </a:spcAft>
            </a:pPr>
            <a:r>
              <a:rPr sz="1200" b="1">
                <a:solidFill>
                  <a:srgbClr val="1F6FEB"/>
                </a:solidFill>
                <a:latin typeface="Arial"/>
              </a:rPr>
              <a:t>PROMPT — paste into ChatGPT, Claude or Gemini</a:t>
            </a:r>
          </a:p>
        </p:txBody>
      </p:sp>
      <p:sp>
        <p:nvSpPr>
          <p:cNvPr id="12" name="Rectangle 11"/>
          <p:cNvSpPr/>
          <p:nvPr/>
        </p:nvSpPr>
        <p:spPr>
          <a:xfrm>
            <a:off x="2331720" y="3767328"/>
            <a:ext cx="9235440" cy="11033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3886200"/>
            <a:ext cx="8686800" cy="865632"/>
          </a:xfrm>
          <a:prstGeom prst="rect">
            <a:avLst/>
          </a:prstGeom>
          <a:noFill/>
        </p:spPr>
        <p:txBody>
          <a:bodyPr wrap="square" anchor="t">
            <a:spAutoFit/>
          </a:bodyPr>
          <a:lstStyle/>
          <a:p>
            <a:pPr algn="l">
              <a:spcAft>
                <a:spcPts val="200"/>
              </a:spcAft>
            </a:pPr>
            <a:r>
              <a:rPr sz="1300" b="0">
                <a:solidFill>
                  <a:srgbClr val="9CDCFE"/>
                </a:solidFill>
                <a:latin typeface="Arial"/>
              </a:rPr>
              <a:t>Interpret our throughput, cycle time and sprint completion rate as signals for a retrospective conversation, not as performance targets. For each metric: what a healthy pattern looks like, what our numbers might be signalling, and one question the team should discuss. Explicitly warn against any way this metric could be gamed or misused to pressure individuals.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transition spd="med">
    <p:fade/>
  </p:transition>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Analyse Velocity and Metrics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2377440"/>
          </a:xfrm>
          <a:prstGeom prst="rect">
            <a:avLst/>
          </a:prstGeom>
          <a:noFill/>
        </p:spPr>
        <p:txBody>
          <a:bodyPr wrap="square" anchor="ctr">
            <a:spAutoFit/>
          </a:bodyPr>
          <a:lstStyle/>
          <a:p>
            <a:pPr algn="l">
              <a:spcAft>
                <a:spcPts val="400"/>
              </a:spcAft>
            </a:pPr>
            <a:r>
              <a:rPr sz="2600" b="0">
                <a:solidFill>
                  <a:srgbClr val="161B26"/>
                </a:solidFill>
                <a:latin typeface="Arial"/>
              </a:rPr>
              <a:t>Add the human read. Write two or three lines of your own on what the metrics really suggest for Tempo, and note one thing the numbers do not capture (for example quality, morale, or hidden rework). Metrics inform the conversation; they do not end it.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p:transition spd="med">
    <p:fade/>
  </p:transition>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Analyse Velocity and Metrics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2377440"/>
          </a:xfrm>
          <a:prstGeom prst="rect">
            <a:avLst/>
          </a:prstGeom>
          <a:noFill/>
        </p:spPr>
        <p:txBody>
          <a:bodyPr wrap="square" anchor="ctr">
            <a:spAutoFit/>
          </a:bodyPr>
          <a:lstStyle/>
          <a:p>
            <a:pPr algn="l">
              <a:spcAft>
                <a:spcPts val="400"/>
              </a:spcAft>
            </a:pPr>
            <a:r>
              <a:rPr sz="2600" b="0">
                <a:solidFill>
                  <a:srgbClr val="161B26"/>
                </a:solidFill>
                <a:latin typeface="Arial"/>
              </a:rPr>
              <a:t>Save the metrics analysis as a section of your Tempo-2.0-Playbook folder: the velocity-trend read, the scope forecast with assumptions, the signals interpretation, and your own honest commentary — ready to feed the retrospective.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transition spd="med">
    <p:fade/>
  </p:transition>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11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Analyse Velocity and Metrics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an AI-assisted metrics analysis for Tempo — a velocity-trend read you verified by re-computing the average, a scope forecast with explicit assumptions, and an honest interpretation of throughput, cycle time and completion rate as signals (not targets) — with your own commentary, saved to your playbook.</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p:transition spd="med">
    <p:fade/>
  </p:transition>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Run an AI-Assisted Retrospective and Plan Continuous Improvement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200" b="0">
                <a:solidFill>
                  <a:srgbClr val="161B26"/>
                </a:solidFill>
                <a:latin typeface="Arial"/>
              </a:rPr>
              <a:t>A sprint ends by learning from it. In this final lab you use an assistant to make a retrospective sharper and its follow-through real, while protecting the people in it. You ask the AI to design a retrospective format suited to this sprint, then feed it the team's raw, anonymised retro input and have it group and theme the feedback into patterns and surface honest discussion points — the facilitator's prep done in seconds. Crucially, you handle the input responsibly: it is anonymised and aggregated, kept inside the team, and used to find themes, never to judge individuals. From the themes the AI drafts a few specific, owned, time-bound improvement actions, which you review and commit to, and you set up a simple way to track them across sprints so the inspect-and-adapt loop actually closes. This assembles your complete Tempo 2.0 Agile AI Playbook. BUILDING BLOCK — what you create in this lab becomes a section of your Tempo 2.0 Agile AI Playbook, the connected project you assemble across all 12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300" b="1">
                <a:solidFill>
                  <a:srgbClr val="161B26"/>
                </a:solidFill>
                <a:latin typeface="Arial"/>
              </a:rPr>
              <a:t>An AI-assisted retrospective — a fit-for-purpose format, the team's anonymised input themed into patterns with candid discussion points, and a small set of specific, owned, time-bound improvement actions with a way to track them — completing your end-to-end Tempo 2.0 Agile AI Playbook.</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Any assistant, retrospective design, anonymised theming of team input, discussion-point surfacing, improvement-action planning, continuous-improvement tracking</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p:transition spd="med">
    <p:fade/>
  </p:transition>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Run an AI-Assisted Retrospective and Plan Continuous Improvement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48840"/>
            <a:ext cx="9235440" cy="1371600"/>
          </a:xfrm>
          <a:prstGeom prst="rect">
            <a:avLst/>
          </a:prstGeom>
          <a:noFill/>
        </p:spPr>
        <p:txBody>
          <a:bodyPr wrap="square" anchor="t">
            <a:spAutoFit/>
          </a:bodyPr>
          <a:lstStyle/>
          <a:p>
            <a:pPr algn="l">
              <a:spcAft>
                <a:spcPts val="400"/>
              </a:spcAft>
            </a:pPr>
            <a:r>
              <a:rPr sz="2300" b="0">
                <a:solidFill>
                  <a:srgbClr val="161B26"/>
                </a:solidFill>
                <a:latin typeface="Arial"/>
              </a:rPr>
              <a:t>Design the retrospective. Ask the AI for a format suited to this sprint, using the prompt below.</a:t>
            </a:r>
          </a:p>
        </p:txBody>
      </p:sp>
      <p:sp>
        <p:nvSpPr>
          <p:cNvPr id="11" name="TextBox 10"/>
          <p:cNvSpPr txBox="1"/>
          <p:nvPr/>
        </p:nvSpPr>
        <p:spPr>
          <a:xfrm>
            <a:off x="2331720" y="3493008"/>
            <a:ext cx="9144000" cy="274320"/>
          </a:xfrm>
          <a:prstGeom prst="rect">
            <a:avLst/>
          </a:prstGeom>
          <a:noFill/>
        </p:spPr>
        <p:txBody>
          <a:bodyPr wrap="square" anchor="t">
            <a:spAutoFit/>
          </a:bodyPr>
          <a:lstStyle/>
          <a:p>
            <a:pPr algn="l">
              <a:spcAft>
                <a:spcPts val="400"/>
              </a:spcAft>
            </a:pPr>
            <a:r>
              <a:rPr sz="1200" b="1">
                <a:solidFill>
                  <a:srgbClr val="1F6FEB"/>
                </a:solidFill>
                <a:latin typeface="Arial"/>
              </a:rPr>
              <a:t>PROMPT — paste into ChatGPT, Claude or Gemini</a:t>
            </a:r>
          </a:p>
        </p:txBody>
      </p:sp>
      <p:sp>
        <p:nvSpPr>
          <p:cNvPr id="12" name="Rectangle 11"/>
          <p:cNvSpPr/>
          <p:nvPr/>
        </p:nvSpPr>
        <p:spPr>
          <a:xfrm>
            <a:off x="2331720" y="3767328"/>
            <a:ext cx="9235440" cy="11033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3886200"/>
            <a:ext cx="8686800" cy="865632"/>
          </a:xfrm>
          <a:prstGeom prst="rect">
            <a:avLst/>
          </a:prstGeom>
          <a:noFill/>
        </p:spPr>
        <p:txBody>
          <a:bodyPr wrap="square" anchor="t">
            <a:spAutoFit/>
          </a:bodyPr>
          <a:lstStyle/>
          <a:p>
            <a:pPr algn="l">
              <a:spcAft>
                <a:spcPts val="200"/>
              </a:spcAft>
            </a:pPr>
            <a:r>
              <a:rPr sz="1300" b="0">
                <a:solidFill>
                  <a:srgbClr val="9CDCFE"/>
                </a:solidFill>
                <a:latin typeface="Arial"/>
              </a:rPr>
              <a:t>You are an Agile facilitator. Our Tempo 2.0 Sprint 1 had a strong start but slipped on the reminder-engine work and had a dependency block. Task: suggest a retrospective format suited to this sprint (for example Start/Stop/Continue, Glad/Sad/Mad, or 4Ls), with a short agenda and 4-5 good opening questions. Explain in one line why this format fits this sprint.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p:transition spd="med">
    <p:fade/>
  </p:transition>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Run an AI-Assisted Retrospective and Plan Continuous Improvement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94560"/>
            <a:ext cx="9235440" cy="2377440"/>
          </a:xfrm>
          <a:prstGeom prst="rect">
            <a:avLst/>
          </a:prstGeom>
          <a:noFill/>
        </p:spPr>
        <p:txBody>
          <a:bodyPr wrap="square" anchor="ctr">
            <a:spAutoFit/>
          </a:bodyPr>
          <a:lstStyle/>
          <a:p>
            <a:pPr algn="l">
              <a:spcAft>
                <a:spcPts val="400"/>
              </a:spcAft>
            </a:pPr>
            <a:r>
              <a:rPr sz="2500" b="0">
                <a:solidFill>
                  <a:srgbClr val="161B26"/>
                </a:solidFill>
                <a:latin typeface="Arial"/>
              </a:rPr>
              <a:t>Prepare the input responsibly. Take the supplied raw retro input (labs/reference-pack/) and confirm it is anonymised before you use it — no names, no blame. If your own team's input had names, strip them first. Note this as the rule: retro input is aggregated and stays inside the team.</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p:transition spd="med">
    <p:fade/>
  </p:transition>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Run an AI-Assisted Retrospective and Plan Continuous Improvement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48840"/>
            <a:ext cx="9235440" cy="1371600"/>
          </a:xfrm>
          <a:prstGeom prst="rect">
            <a:avLst/>
          </a:prstGeom>
          <a:noFill/>
        </p:spPr>
        <p:txBody>
          <a:bodyPr wrap="square" anchor="t">
            <a:spAutoFit/>
          </a:bodyPr>
          <a:lstStyle/>
          <a:p>
            <a:pPr algn="l">
              <a:spcAft>
                <a:spcPts val="400"/>
              </a:spcAft>
            </a:pPr>
            <a:r>
              <a:rPr sz="2300" b="0">
                <a:solidFill>
                  <a:srgbClr val="161B26"/>
                </a:solidFill>
                <a:latin typeface="Arial"/>
              </a:rPr>
              <a:t>Theme the feedback. Feed the anonymised input in with the prompt below.</a:t>
            </a:r>
          </a:p>
        </p:txBody>
      </p:sp>
      <p:sp>
        <p:nvSpPr>
          <p:cNvPr id="11" name="TextBox 10"/>
          <p:cNvSpPr txBox="1"/>
          <p:nvPr/>
        </p:nvSpPr>
        <p:spPr>
          <a:xfrm>
            <a:off x="2331720" y="3493008"/>
            <a:ext cx="9144000" cy="274320"/>
          </a:xfrm>
          <a:prstGeom prst="rect">
            <a:avLst/>
          </a:prstGeom>
          <a:noFill/>
        </p:spPr>
        <p:txBody>
          <a:bodyPr wrap="square" anchor="t">
            <a:spAutoFit/>
          </a:bodyPr>
          <a:lstStyle/>
          <a:p>
            <a:pPr algn="l">
              <a:spcAft>
                <a:spcPts val="400"/>
              </a:spcAft>
            </a:pPr>
            <a:r>
              <a:rPr sz="1200" b="1">
                <a:solidFill>
                  <a:srgbClr val="1F6FEB"/>
                </a:solidFill>
                <a:latin typeface="Arial"/>
              </a:rPr>
              <a:t>PROMPT — paste into ChatGPT, Claude or Gemini</a:t>
            </a:r>
          </a:p>
        </p:txBody>
      </p:sp>
      <p:sp>
        <p:nvSpPr>
          <p:cNvPr id="12" name="Rectangle 11"/>
          <p:cNvSpPr/>
          <p:nvPr/>
        </p:nvSpPr>
        <p:spPr>
          <a:xfrm>
            <a:off x="2331720" y="3767328"/>
            <a:ext cx="9235440" cy="130149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3886200"/>
            <a:ext cx="8686800" cy="1063752"/>
          </a:xfrm>
          <a:prstGeom prst="rect">
            <a:avLst/>
          </a:prstGeom>
          <a:noFill/>
        </p:spPr>
        <p:txBody>
          <a:bodyPr wrap="square" anchor="t">
            <a:spAutoFit/>
          </a:bodyPr>
          <a:lstStyle/>
          <a:p>
            <a:pPr algn="l">
              <a:spcAft>
                <a:spcPts val="200"/>
              </a:spcAft>
            </a:pPr>
            <a:r>
              <a:rPr sz="1300" b="0">
                <a:solidFill>
                  <a:srgbClr val="9CDCFE"/>
                </a:solidFill>
                <a:latin typeface="Arial"/>
              </a:rPr>
              <a:t>Here is the anonymised raw input from our sprint retrospective:</a:t>
            </a:r>
          </a:p>
          <a:p>
            <a:pPr algn="l">
              <a:spcAft>
                <a:spcPts val="200"/>
              </a:spcAft>
            </a:pPr>
            <a:r>
              <a:rPr sz="1300" b="0">
                <a:solidFill>
                  <a:srgbClr val="9CDCFE"/>
                </a:solidFill>
                <a:latin typeface="Arial"/>
              </a:rPr>
              <a:t>&lt;PASTE THE ANONYMISED RETRO INPUT&gt;</a:t>
            </a:r>
          </a:p>
          <a:p>
            <a:pPr algn="l">
              <a:spcAft>
                <a:spcPts val="200"/>
              </a:spcAft>
            </a:pPr>
            <a:r>
              <a:rPr sz="1300" b="0">
                <a:solidFill>
                  <a:srgbClr val="9CDCFE"/>
                </a:solidFill>
                <a:latin typeface="Arial"/>
              </a:rPr>
              <a:t>Task: group it into 4-6 themes, showing how many comments support each and summarising the point of view within each theme fairly. Format: Theme | Summary | How many mentioned it. Constraints: keep it anonymous and neutral, represent minority views too, and do not single out or infer any individual.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p:transition spd="med">
    <p:fade/>
  </p:transition>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Run an AI-Assisted Retrospective and Plan Continuous Improvement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48840"/>
            <a:ext cx="9235440" cy="1371600"/>
          </a:xfrm>
          <a:prstGeom prst="rect">
            <a:avLst/>
          </a:prstGeom>
          <a:noFill/>
        </p:spPr>
        <p:txBody>
          <a:bodyPr wrap="square" anchor="t">
            <a:spAutoFit/>
          </a:bodyPr>
          <a:lstStyle/>
          <a:p>
            <a:pPr algn="l">
              <a:spcAft>
                <a:spcPts val="400"/>
              </a:spcAft>
            </a:pPr>
            <a:r>
              <a:rPr sz="2300" b="0">
                <a:solidFill>
                  <a:srgbClr val="161B26"/>
                </a:solidFill>
                <a:latin typeface="Arial"/>
              </a:rPr>
              <a:t>Surface candid discussion points. Ask the AI to turn themes into questions the team should actually discuss.</a:t>
            </a:r>
          </a:p>
        </p:txBody>
      </p:sp>
      <p:sp>
        <p:nvSpPr>
          <p:cNvPr id="11" name="TextBox 10"/>
          <p:cNvSpPr txBox="1"/>
          <p:nvPr/>
        </p:nvSpPr>
        <p:spPr>
          <a:xfrm>
            <a:off x="2331720" y="3493008"/>
            <a:ext cx="9144000" cy="274320"/>
          </a:xfrm>
          <a:prstGeom prst="rect">
            <a:avLst/>
          </a:prstGeom>
          <a:noFill/>
        </p:spPr>
        <p:txBody>
          <a:bodyPr wrap="square" anchor="t">
            <a:spAutoFit/>
          </a:bodyPr>
          <a:lstStyle/>
          <a:p>
            <a:pPr algn="l">
              <a:spcAft>
                <a:spcPts val="400"/>
              </a:spcAft>
            </a:pPr>
            <a:r>
              <a:rPr sz="1200" b="1">
                <a:solidFill>
                  <a:srgbClr val="1F6FEB"/>
                </a:solidFill>
                <a:latin typeface="Arial"/>
              </a:rPr>
              <a:t>PROMPT — paste into ChatGPT, Claude or Gemini</a:t>
            </a:r>
          </a:p>
        </p:txBody>
      </p:sp>
      <p:sp>
        <p:nvSpPr>
          <p:cNvPr id="12" name="Rectangle 11"/>
          <p:cNvSpPr/>
          <p:nvPr/>
        </p:nvSpPr>
        <p:spPr>
          <a:xfrm>
            <a:off x="2331720" y="3767328"/>
            <a:ext cx="9235440" cy="90525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3886200"/>
            <a:ext cx="8686800" cy="667512"/>
          </a:xfrm>
          <a:prstGeom prst="rect">
            <a:avLst/>
          </a:prstGeom>
          <a:noFill/>
        </p:spPr>
        <p:txBody>
          <a:bodyPr wrap="square" anchor="t">
            <a:spAutoFit/>
          </a:bodyPr>
          <a:lstStyle/>
          <a:p>
            <a:pPr algn="l">
              <a:spcAft>
                <a:spcPts val="200"/>
              </a:spcAft>
            </a:pPr>
            <a:r>
              <a:rPr sz="1300" b="0">
                <a:solidFill>
                  <a:srgbClr val="9CDCFE"/>
                </a:solidFill>
                <a:latin typeface="Arial"/>
              </a:rPr>
              <a:t>From those themes, suggest 4-5 candid but constructive discussion points for the retrospective — the things the team most needs to talk about honestly to improve, phrased as questions, not accusations. Focus on the system and process, not people.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p:transition spd="med">
    <p:fade/>
  </p:transition>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Run an AI-Assisted Retrospective and Plan Continuous Improvement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48840"/>
            <a:ext cx="9235440" cy="1371600"/>
          </a:xfrm>
          <a:prstGeom prst="rect">
            <a:avLst/>
          </a:prstGeom>
          <a:noFill/>
        </p:spPr>
        <p:txBody>
          <a:bodyPr wrap="square" anchor="t">
            <a:spAutoFit/>
          </a:bodyPr>
          <a:lstStyle/>
          <a:p>
            <a:pPr algn="l">
              <a:spcAft>
                <a:spcPts val="400"/>
              </a:spcAft>
            </a:pPr>
            <a:r>
              <a:rPr sz="2300" b="0">
                <a:solidFill>
                  <a:srgbClr val="161B26"/>
                </a:solidFill>
                <a:latin typeface="Arial"/>
              </a:rPr>
              <a:t>Draft improvement actions. Convert the discussion into commitments with the prompt below.</a:t>
            </a:r>
          </a:p>
        </p:txBody>
      </p:sp>
      <p:sp>
        <p:nvSpPr>
          <p:cNvPr id="11" name="TextBox 10"/>
          <p:cNvSpPr txBox="1"/>
          <p:nvPr/>
        </p:nvSpPr>
        <p:spPr>
          <a:xfrm>
            <a:off x="2331720" y="3493008"/>
            <a:ext cx="9144000" cy="274320"/>
          </a:xfrm>
          <a:prstGeom prst="rect">
            <a:avLst/>
          </a:prstGeom>
          <a:noFill/>
        </p:spPr>
        <p:txBody>
          <a:bodyPr wrap="square" anchor="t">
            <a:spAutoFit/>
          </a:bodyPr>
          <a:lstStyle/>
          <a:p>
            <a:pPr algn="l">
              <a:spcAft>
                <a:spcPts val="400"/>
              </a:spcAft>
            </a:pPr>
            <a:r>
              <a:rPr sz="1200" b="1">
                <a:solidFill>
                  <a:srgbClr val="1F6FEB"/>
                </a:solidFill>
                <a:latin typeface="Arial"/>
              </a:rPr>
              <a:t>PROMPT — paste into ChatGPT, Claude or Gemini</a:t>
            </a:r>
          </a:p>
        </p:txBody>
      </p:sp>
      <p:sp>
        <p:nvSpPr>
          <p:cNvPr id="12" name="Rectangle 11"/>
          <p:cNvSpPr/>
          <p:nvPr/>
        </p:nvSpPr>
        <p:spPr>
          <a:xfrm>
            <a:off x="2331720" y="3767328"/>
            <a:ext cx="9235440" cy="11033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3886200"/>
            <a:ext cx="8686800" cy="865632"/>
          </a:xfrm>
          <a:prstGeom prst="rect">
            <a:avLst/>
          </a:prstGeom>
          <a:noFill/>
        </p:spPr>
        <p:txBody>
          <a:bodyPr wrap="square" anchor="t">
            <a:spAutoFit/>
          </a:bodyPr>
          <a:lstStyle/>
          <a:p>
            <a:pPr algn="l">
              <a:spcAft>
                <a:spcPts val="200"/>
              </a:spcAft>
            </a:pPr>
            <a:r>
              <a:rPr sz="1300" b="0">
                <a:solidFill>
                  <a:srgbClr val="9CDCFE"/>
                </a:solidFill>
                <a:latin typeface="Arial"/>
              </a:rPr>
              <a:t>Turn the top themes into a SMALL set (3-4) of improvement actions for next sprint. Each must be specific, have a suggested owner role, and be time-bound (done by when). Format: Action | Owner (role) | By when | The theme it addresses. Constraints: keep it to a few actions the team can actually do — a long list improves nothing.</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p:transition spd="med">
    <p:fade/>
  </p:transition>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Run an AI-Assisted Retrospective and Plan Continuous Improvement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2377440"/>
          </a:xfrm>
          <a:prstGeom prst="rect">
            <a:avLst/>
          </a:prstGeom>
          <a:noFill/>
        </p:spPr>
        <p:txBody>
          <a:bodyPr wrap="square" anchor="ctr">
            <a:spAutoFit/>
          </a:bodyPr>
          <a:lstStyle/>
          <a:p>
            <a:pPr algn="l">
              <a:spcAft>
                <a:spcPts val="400"/>
              </a:spcAft>
            </a:pPr>
            <a:r>
              <a:rPr sz="2500" b="0">
                <a:solidFill>
                  <a:srgbClr val="161B26"/>
                </a:solidFill>
                <a:latin typeface="Arial"/>
              </a:rPr>
              <a:t>Commit and set up tracking as a human. Review the actions with the team's hat on: are they genuinely doable, do they address the real themes? Adjust, assign real owners, and set up a simple tracker (a short list carried into next sprint's retro) so you can check what actually changed — closing the inspect-and-adapt loop.</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p:transition spd="med">
    <p:fade/>
  </p:transition>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Run an AI-Assisted Retrospective and Plan Continuous Improvement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2377440"/>
          </a:xfrm>
          <a:prstGeom prst="rect">
            <a:avLst/>
          </a:prstGeom>
          <a:noFill/>
        </p:spPr>
        <p:txBody>
          <a:bodyPr wrap="square" anchor="ctr">
            <a:spAutoFit/>
          </a:bodyPr>
          <a:lstStyle/>
          <a:p>
            <a:pPr algn="l">
              <a:spcAft>
                <a:spcPts val="400"/>
              </a:spcAft>
            </a:pPr>
            <a:r>
              <a:rPr sz="2100" b="0">
                <a:solidFill>
                  <a:srgbClr val="161B26"/>
                </a:solidFill>
                <a:latin typeface="Arial"/>
              </a:rPr>
              <a:t>Assemble the complete playbook. Save the retrospective format, themed feedback, discussion points and improvement-action tracker as the final section of your Tempo-2.0-Playbook folder. Then review the whole folder end to end — toolkit, prompts, responsible-AI checklist, stories, backlog, plan, tracking, risks, docs, reports, metrics and retro — as one connected Tempo 2.0 Agile AI Playbook. This is the deliverable the course set out to build.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p:transition spd="med">
    <p:fade/>
  </p:transition>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12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Run an AI-Assisted Retrospective and Plan Continuous Improvement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an AI-assisted retrospective — a fit-for-purpose format, the team's anonymised input themed into patterns with candid discussion points, and 3-4 specific, owned, time-bound improvement actions with a tracker — handled responsibly (anonymised, no blame), and your complete end-to-end Tempo 2.0 Agile AI Playbook is assembled and reviewed.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Tree>
  </p:cSld>
  <p:clrMapOvr>
    <a:masterClrMapping/>
  </p:clrMapOvr>
  <p:transition spd="med">
    <p:fade/>
  </p:transition>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Recap — AI for Reporting, Retrospectives and Improvement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 can now: Use AI to turn sprint data and notes into a clear status report pitched for its reader, and to design and describe a simple delivery dashboard with the narrative that explains what the numbers mean.</a:t>
            </a:r>
          </a:p>
        </p:txBody>
      </p:sp>
      <p:sp>
        <p:nvSpPr>
          <p:cNvPr id="12" name="Rectangle 11"/>
          <p:cNvSpPr/>
          <p:nvPr/>
        </p:nvSpPr>
        <p:spPr>
          <a:xfrm>
            <a:off x="777240" y="3316224"/>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3389376"/>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 can now: Use AI to analyse past sprint data — velocity trend, throughput, cycle time and completion rate — to forecast realistic scope, and to interpret the metrics honestly as signals for conversation, not targets to game.</a:t>
            </a:r>
          </a:p>
        </p:txBody>
      </p:sp>
      <p:sp>
        <p:nvSpPr>
          <p:cNvPr id="17" name="Rectangle 16"/>
          <p:cNvSpPr/>
          <p:nvPr/>
        </p:nvSpPr>
        <p:spPr>
          <a:xfrm>
            <a:off x="777240" y="4803648"/>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876800"/>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 can now: Use AI to design a retrospective, theme the team's anonymised input into patterns, surface candid discussion points, and turn the themes into a small set of specific, owned, time-bound improvement actions — completing the end-to-end playbook.</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Tree>
  </p:cSld>
  <p:clrMapOvr>
    <a:masterClrMapping/>
  </p:clrMapOvr>
  <p:transition spd="med">
    <p:fade/>
  </p:transition>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145</a:t>
            </a:r>
          </a:p>
        </p:txBody>
      </p:sp>
    </p:spTree>
  </p:cSld>
  <p:clrMapOvr>
    <a:masterClrMapping/>
  </p:clrMapOvr>
  <p:transition spd="med">
    <p:fade/>
  </p:transition>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AI toolkit for Agile</a:t>
            </a:r>
          </a:p>
          <a:p>
            <a:pPr algn="l">
              <a:spcAft>
                <a:spcPts val="300"/>
              </a:spcAft>
            </a:pPr>
            <a:r>
              <a:rPr sz="1300" b="0">
                <a:solidFill>
                  <a:srgbClr val="5B6372"/>
                </a:solidFill>
                <a:latin typeface="Arial"/>
              </a:rPr>
              <a:t>Explain how generative AI assistants (ChatGPT, Claude, Gemini) support Agile and Scrum, and set up an AI toolkit and workspace for agile project management.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Prompting for agile</a:t>
            </a:r>
          </a:p>
          <a:p>
            <a:pPr algn="l">
              <a:spcAft>
                <a:spcPts val="300"/>
              </a:spcAft>
            </a:pPr>
            <a:r>
              <a:rPr sz="1300" b="0">
                <a:solidFill>
                  <a:srgbClr val="5B6372"/>
                </a:solidFill>
                <a:latin typeface="Arial"/>
              </a:rPr>
              <a:t>Write effective, structured prompts for agile tasks and build a reusable prompt library the whole team can use.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Responsible AI</a:t>
            </a:r>
          </a:p>
          <a:p>
            <a:pPr algn="l">
              <a:spcAft>
                <a:spcPts val="300"/>
              </a:spcAft>
            </a:pPr>
            <a:r>
              <a:rPr sz="1300" b="0">
                <a:solidFill>
                  <a:srgbClr val="5B6372"/>
                </a:solidFill>
                <a:latin typeface="Arial"/>
              </a:rPr>
              <a:t>Apply responsible, human-in-the-loop AI practices — reviewing, fact-checking and protecting sensitive data — across agile work.</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User stories &amp; AC</a:t>
            </a:r>
          </a:p>
          <a:p>
            <a:pPr algn="l">
              <a:spcAft>
                <a:spcPts val="300"/>
              </a:spcAft>
            </a:pPr>
            <a:r>
              <a:rPr sz="1300" b="0">
                <a:solidFill>
                  <a:srgbClr val="5B6372"/>
                </a:solidFill>
                <a:latin typeface="Arial"/>
              </a:rPr>
              <a:t>Draft and refine clear, INVEST-quality user stories and acceptance criteria with AI assistance.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Backlog &amp; priorities</a:t>
            </a:r>
          </a:p>
          <a:p>
            <a:pPr algn="l">
              <a:spcAft>
                <a:spcPts val="300"/>
              </a:spcAft>
            </a:pPr>
            <a:r>
              <a:rPr sz="1300" b="0">
                <a:solidFill>
                  <a:srgbClr val="5B6372"/>
                </a:solidFill>
                <a:latin typeface="Arial"/>
              </a:rPr>
              <a:t>Groom and prioritise a product backlog with AI using INVEST, MoSCoW and value-versus-effort thinking.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Sprint plan &amp; roadmap</a:t>
            </a:r>
          </a:p>
          <a:p>
            <a:pPr algn="l">
              <a:spcAft>
                <a:spcPts val="300"/>
              </a:spcAft>
            </a:pPr>
            <a:r>
              <a:rPr sz="1300" b="0">
                <a:solidFill>
                  <a:srgbClr val="5B6372"/>
                </a:solidFill>
                <a:latin typeface="Arial"/>
              </a:rPr>
              <a:t>Plan a sprint, estimate work, and generate a release roadmap and plan with AI support.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146</a:t>
            </a:r>
          </a:p>
        </p:txBody>
      </p:sp>
    </p:spTree>
  </p:cSld>
  <p:clrMapOvr>
    <a:masterClrMapping/>
  </p:clrMapOvr>
  <p:transition spd="med">
    <p:fade/>
  </p:transition>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 Achieved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Standups &amp; tracking</a:t>
            </a:r>
          </a:p>
          <a:p>
            <a:pPr algn="l">
              <a:spcAft>
                <a:spcPts val="300"/>
              </a:spcAft>
            </a:pPr>
            <a:r>
              <a:rPr sz="1300" b="0">
                <a:solidFill>
                  <a:srgbClr val="5B6372"/>
                </a:solidFill>
                <a:latin typeface="Arial"/>
              </a:rPr>
              <a:t>Summarise stand-ups and track sprint progress with AI while keeping the team's judgement in the loop.</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Risks &amp; blockers</a:t>
            </a:r>
          </a:p>
          <a:p>
            <a:pPr algn="l">
              <a:spcAft>
                <a:spcPts val="300"/>
              </a:spcAft>
            </a:pPr>
            <a:r>
              <a:rPr sz="1300" b="0">
                <a:solidFill>
                  <a:srgbClr val="5B6372"/>
                </a:solidFill>
                <a:latin typeface="Arial"/>
              </a:rPr>
              <a:t>Identify risks, blockers and dependencies with AI and plan mitigations and escalations.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9</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Docs, comms &amp; QA</a:t>
            </a:r>
          </a:p>
          <a:p>
            <a:pPr algn="l">
              <a:spcAft>
                <a:spcPts val="300"/>
              </a:spcAft>
            </a:pPr>
            <a:r>
              <a:rPr sz="1300" b="0">
                <a:solidFill>
                  <a:srgbClr val="5B6372"/>
                </a:solidFill>
                <a:latin typeface="Arial"/>
              </a:rPr>
              <a:t>Assist documentation, communication, quality and testing across the sprint with AI.</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10</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Reports &amp; dashboards</a:t>
            </a:r>
          </a:p>
          <a:p>
            <a:pPr algn="l">
              <a:spcAft>
                <a:spcPts val="300"/>
              </a:spcAft>
            </a:pPr>
            <a:r>
              <a:rPr sz="1300" b="0">
                <a:solidFill>
                  <a:srgbClr val="5B6372"/>
                </a:solidFill>
                <a:latin typeface="Arial"/>
              </a:rPr>
              <a:t>Generate status reports and a delivery dashboard for different stakeholders with AI.</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11</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Velocity &amp; metrics</a:t>
            </a:r>
          </a:p>
          <a:p>
            <a:pPr algn="l">
              <a:spcAft>
                <a:spcPts val="300"/>
              </a:spcAft>
            </a:pPr>
            <a:r>
              <a:rPr sz="1300" b="0">
                <a:solidFill>
                  <a:srgbClr val="5B6372"/>
                </a:solidFill>
                <a:latin typeface="Arial"/>
              </a:rPr>
              <a:t>Analyse velocity and delivery metrics with AI to surface trends and honest insights.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12</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Retro &amp; improvement</a:t>
            </a:r>
          </a:p>
          <a:p>
            <a:pPr algn="l">
              <a:spcAft>
                <a:spcPts val="300"/>
              </a:spcAft>
            </a:pPr>
            <a:r>
              <a:rPr sz="1300" b="0">
                <a:solidFill>
                  <a:srgbClr val="5B6372"/>
                </a:solidFill>
                <a:latin typeface="Arial"/>
              </a:rPr>
              <a:t>Run an AI-assisted retrospective and turn its output into a concrete continuous-improvement plan.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147</a:t>
            </a:r>
          </a:p>
        </p:txBody>
      </p:sp>
    </p:spTree>
  </p:cSld>
  <p:clrMapOvr>
    <a:masterClrMapping/>
  </p:clrMapOvr>
  <p:transition spd="med">
    <p:fade/>
  </p:transition>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WRAP-UP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Keep Practising After the Course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Re-run the labs on your own machine — repetition is what makes the skills stick.</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Apply the techniques to a real process or project in your own organisation.</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Your course material stays available at https://lms-tms.tertiaryinfotech.com/.</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Explore the follow-on courses at www.tertiarycourses.com.sg.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148</a:t>
            </a:r>
          </a:p>
        </p:txBody>
      </p:sp>
    </p:spTree>
  </p:cSld>
  <p:clrMapOvr>
    <a:masterClrMapping/>
  </p:clrMapOvr>
  <p:transition spd="med">
    <p:fade/>
  </p:transition>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THANK YOU FOR ATTENDING</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now have the practical skills from every lab in this course — keep applying them to your own work.</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Agile Project Management (C324)  ·  C324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149</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